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95">
          <p15:clr>
            <a:srgbClr val="000000"/>
          </p15:clr>
        </p15:guide>
        <p15:guide id="2" pos="216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gqaFFBvoSsQKYJG5Utt+zVWKbF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733A78-45CE-4097-A4AF-A42FFFCE1B34}">
  <a:tblStyle styleId="{2E733A78-45CE-4097-A4AF-A42FFFCE1B3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95" orient="horz"/>
        <p:guide pos="2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customschemas.google.com/relationships/presentationmetadata" Target="meta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cghs.mohfw.gov.in/" TargetMode="External"/><Relationship Id="rId11" Type="http://schemas.openxmlformats.org/officeDocument/2006/relationships/hyperlink" Target="https://data.worldbank.org/" TargetMode="External"/><Relationship Id="rId10" Type="http://schemas.openxmlformats.org/officeDocument/2006/relationships/hyperlink" Target="https://www.who.int/health-topics/health-financing" TargetMode="External"/><Relationship Id="rId9" Type="http://schemas.openxmlformats.org/officeDocument/2006/relationships/hyperlink" Target="https://nabh.co/" TargetMode="External"/><Relationship Id="rId5" Type="http://schemas.openxmlformats.org/officeDocument/2006/relationships/hyperlink" Target="https://www.irdai.gov.in/" TargetMode="External"/><Relationship Id="rId6" Type="http://schemas.openxmlformats.org/officeDocument/2006/relationships/hyperlink" Target="https://irdai.gov.in/annual-reports" TargetMode="External"/><Relationship Id="rId7" Type="http://schemas.openxmlformats.org/officeDocument/2006/relationships/hyperlink" Target="https://nha.gov.in/" TargetMode="External"/><Relationship Id="rId8" Type="http://schemas.openxmlformats.org/officeDocument/2006/relationships/hyperlink" Target="https://ndhm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292811" y="148903"/>
            <a:ext cx="11360988" cy="11360988"/>
          </a:xfrm>
          <a:custGeom>
            <a:rect b="b" l="l" r="r" t="t"/>
            <a:pathLst>
              <a:path extrusionOk="0" h="11360988" w="11360988">
                <a:moveTo>
                  <a:pt x="0" y="0"/>
                </a:moveTo>
                <a:lnTo>
                  <a:pt x="11360988" y="0"/>
                </a:lnTo>
                <a:lnTo>
                  <a:pt x="11360988" y="11360989"/>
                </a:lnTo>
                <a:lnTo>
                  <a:pt x="0" y="113609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1600712" y="6339195"/>
            <a:ext cx="6790294" cy="6291531"/>
            <a:chOff x="0" y="0"/>
            <a:chExt cx="812800" cy="753098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812800" cy="753098"/>
            </a:xfrm>
            <a:custGeom>
              <a:rect b="b" l="l" r="r" t="t"/>
              <a:pathLst>
                <a:path extrusionOk="0" h="753098" w="812800">
                  <a:moveTo>
                    <a:pt x="406400" y="0"/>
                  </a:moveTo>
                  <a:cubicBezTo>
                    <a:pt x="181951" y="0"/>
                    <a:pt x="0" y="168587"/>
                    <a:pt x="0" y="376549"/>
                  </a:cubicBezTo>
                  <a:cubicBezTo>
                    <a:pt x="0" y="584512"/>
                    <a:pt x="181951" y="753098"/>
                    <a:pt x="406400" y="753098"/>
                  </a:cubicBezTo>
                  <a:cubicBezTo>
                    <a:pt x="630849" y="753098"/>
                    <a:pt x="812800" y="584512"/>
                    <a:pt x="812800" y="376549"/>
                  </a:cubicBezTo>
                  <a:cubicBezTo>
                    <a:pt x="812800" y="16858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1C1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76200" y="32503"/>
              <a:ext cx="660300" cy="65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-733979" y="-733979"/>
            <a:ext cx="3525357" cy="3525357"/>
          </a:xfrm>
          <a:custGeom>
            <a:rect b="b" l="l" r="r" t="t"/>
            <a:pathLst>
              <a:path extrusionOk="0" h="3525357" w="3525357">
                <a:moveTo>
                  <a:pt x="0" y="0"/>
                </a:moveTo>
                <a:lnTo>
                  <a:pt x="3525358" y="0"/>
                </a:lnTo>
                <a:lnTo>
                  <a:pt x="3525358" y="3525358"/>
                </a:lnTo>
                <a:lnTo>
                  <a:pt x="0" y="3525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11307525" y="148901"/>
            <a:ext cx="68862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B31E23"/>
              </a:buClr>
              <a:buSzPts val="9074"/>
              <a:buFont typeface="Arial"/>
              <a:buNone/>
            </a:pPr>
            <a:r>
              <a:rPr b="1" i="0" lang="en-US" sz="9074" u="none" cap="none" strike="noStrike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NEXUS 2.0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36342" y="3428998"/>
            <a:ext cx="16015200" cy="3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27"/>
              <a:buFont typeface="Roboto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Name: 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Nomads</a:t>
            </a:r>
            <a:endParaRPr/>
          </a:p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27"/>
              <a:buFont typeface="Roboto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 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Medical Billing Auditor &amp; Insurance Appeal Engine for India</a:t>
            </a:r>
            <a:endParaRPr/>
          </a:p>
          <a:p>
            <a:pPr indent="0" lvl="0" marL="0" marR="0" rtl="0" algn="ctr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27"/>
              <a:buFont typeface="Roboto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r>
              <a:rPr b="0" i="0" lang="en-US" sz="4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Viraj Jadhao, Bhumi Sirvi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526050" y="2101900"/>
            <a:ext cx="5235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72"/>
              <a:buFont typeface="Roboto"/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0" i="0" sz="5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6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11333550" y="3909950"/>
            <a:ext cx="6204000" cy="2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Non-standardized and highly complex hospital billing formats that vary between institutions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3429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accessible interpretation of IRDAI regulations and compliance requirements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3429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bsence of automated tools that can analyze bills and generate evidence-based appeals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-408952" y="-408952"/>
            <a:ext cx="2048372" cy="2048372"/>
          </a:xfrm>
          <a:custGeom>
            <a:rect b="b" l="l" r="r" t="t"/>
            <a:pathLst>
              <a:path extrusionOk="0" h="2048372" w="2048372">
                <a:moveTo>
                  <a:pt x="0" y="0"/>
                </a:moveTo>
                <a:lnTo>
                  <a:pt x="2048372" y="0"/>
                </a:lnTo>
                <a:lnTo>
                  <a:pt x="2048372" y="2048372"/>
                </a:lnTo>
                <a:lnTo>
                  <a:pt x="0" y="204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149658" y="9205186"/>
            <a:ext cx="29796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6" u="none" cap="none" strike="noStrike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NEXUS 2.0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17823317" y="9205186"/>
            <a:ext cx="664587" cy="604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6" u="none" cap="none" strike="noStrike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100" name="Google Shape;100;p2"/>
          <p:cNvCxnSpPr/>
          <p:nvPr/>
        </p:nvCxnSpPr>
        <p:spPr>
          <a:xfrm>
            <a:off x="3612899" y="9951551"/>
            <a:ext cx="13924591" cy="0"/>
          </a:xfrm>
          <a:prstGeom prst="straightConnector1">
            <a:avLst/>
          </a:prstGeom>
          <a:noFill/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2"/>
          <p:cNvSpPr txBox="1"/>
          <p:nvPr/>
        </p:nvSpPr>
        <p:spPr>
          <a:xfrm>
            <a:off x="14878149" y="286475"/>
            <a:ext cx="327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542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Nomads</a:t>
            </a:r>
            <a:endParaRPr b="1" sz="3542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568750" y="4611265"/>
            <a:ext cx="5064000" cy="1372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568750" y="3122790"/>
            <a:ext cx="5064000" cy="1372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7246189" y="347684"/>
            <a:ext cx="3795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68750" y="1330120"/>
            <a:ext cx="143094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Healthcare Financing Crisis in India</a:t>
            </a:r>
            <a:endParaRPr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734125" y="4614315"/>
            <a:ext cx="5064000" cy="1372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68750" y="1990800"/>
            <a:ext cx="16262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Opaque. Complex. Exploitative.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 billing and insurance systems in India lack transparency, leading to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unchecked overcharges and denied claims.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3810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734125" y="3122664"/>
            <a:ext cx="5064000" cy="1372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2372788" y="3275883"/>
            <a:ext cx="14559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34"/>
              <a:buFont typeface="Times New Roman"/>
              <a:buNone/>
            </a:pPr>
            <a:r>
              <a:rPr b="1" i="0" lang="en-US" sz="44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50Cr</a:t>
            </a:r>
            <a:endParaRPr i="0" sz="44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402448" y="3911261"/>
            <a:ext cx="33966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82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Insured Population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7696371" y="3275871"/>
            <a:ext cx="9945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34"/>
              <a:buFont typeface="Times New Roman"/>
              <a:buNone/>
            </a:pPr>
            <a:r>
              <a:rPr b="1" i="0" lang="en-US" sz="44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8M</a:t>
            </a:r>
            <a:endParaRPr i="0" sz="44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796675" y="3908991"/>
            <a:ext cx="27939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82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Annual Claim Denials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2325850" y="4775178"/>
            <a:ext cx="13812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34"/>
              <a:buFont typeface="Times New Roman"/>
              <a:buNone/>
            </a:pPr>
            <a:r>
              <a:rPr b="1" i="0" lang="en-US" sz="44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67%</a:t>
            </a:r>
            <a:endParaRPr i="0" sz="44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431392" y="5444843"/>
            <a:ext cx="31701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82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Never Appealed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7001921" y="4775182"/>
            <a:ext cx="25281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34"/>
              <a:buFont typeface="Times New Roman"/>
              <a:buNone/>
            </a:pPr>
            <a:r>
              <a:rPr b="1" i="0" lang="en-US" sz="443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₹8K-15K</a:t>
            </a:r>
            <a:endParaRPr i="0" sz="443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702625" y="5440315"/>
            <a:ext cx="2982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82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Overcharge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11333550" y="3261400"/>
            <a:ext cx="42003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Gap Exists?</a:t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568750" y="6098953"/>
            <a:ext cx="3170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Our Solution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568750" y="6877803"/>
            <a:ext cx="911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Do: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system that audits bills and auto-generates insurance appeals.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6496050" y="7393549"/>
            <a:ext cx="5295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Appeals: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Auto-create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IRDAI-compliant appeal documents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Backed by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+ legal justification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568750" y="7393549"/>
            <a:ext cx="5585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Audit Bills: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overcharges, duplicates, anomalies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Benchmark against 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CGHS pricing norms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2134150" y="7328662"/>
            <a:ext cx="3795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Architectural Flow: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→ Analyze → Protect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6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-310077" y="-315115"/>
            <a:ext cx="2048372" cy="2048372"/>
          </a:xfrm>
          <a:custGeom>
            <a:rect b="b" l="l" r="r" t="t"/>
            <a:pathLst>
              <a:path extrusionOk="0" h="2048372" w="2048372">
                <a:moveTo>
                  <a:pt x="0" y="0"/>
                </a:moveTo>
                <a:lnTo>
                  <a:pt x="2048372" y="0"/>
                </a:lnTo>
                <a:lnTo>
                  <a:pt x="2048372" y="2048372"/>
                </a:lnTo>
                <a:lnTo>
                  <a:pt x="0" y="204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3"/>
          <p:cNvSpPr txBox="1"/>
          <p:nvPr/>
        </p:nvSpPr>
        <p:spPr>
          <a:xfrm>
            <a:off x="183275" y="9492860"/>
            <a:ext cx="29796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6" u="none" cap="none" strike="noStrik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NEXUS 2.0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7823317" y="9205186"/>
            <a:ext cx="664587" cy="1045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6" u="none" cap="none" strike="noStrik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130" name="Google Shape;130;p3"/>
          <p:cNvCxnSpPr/>
          <p:nvPr/>
        </p:nvCxnSpPr>
        <p:spPr>
          <a:xfrm>
            <a:off x="3612899" y="9951551"/>
            <a:ext cx="13924591" cy="0"/>
          </a:xfrm>
          <a:prstGeom prst="straightConnector1">
            <a:avLst/>
          </a:prstGeom>
          <a:noFill/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3"/>
          <p:cNvSpPr txBox="1"/>
          <p:nvPr/>
        </p:nvSpPr>
        <p:spPr>
          <a:xfrm>
            <a:off x="5262600" y="287475"/>
            <a:ext cx="776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 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14878149" y="286475"/>
            <a:ext cx="32775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542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Nomads</a:t>
            </a:r>
            <a:endParaRPr b="1" sz="3542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3" name="Google Shape;133;p3"/>
          <p:cNvGraphicFramePr/>
          <p:nvPr/>
        </p:nvGraphicFramePr>
        <p:xfrm>
          <a:off x="183263" y="30307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{2E733A78-45CE-4097-A4AF-A42FFFCE1B34}</a:tableStyleId>
              </a:tblPr>
              <a:tblGrid>
                <a:gridCol w="2055250"/>
                <a:gridCol w="3935250"/>
              </a:tblGrid>
              <a:tr h="391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Layer</a:t>
                      </a:r>
                      <a:endParaRPr b="1" sz="2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Technologies</a:t>
                      </a:r>
                      <a:endParaRPr b="1" sz="2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Frontend</a:t>
                      </a:r>
                      <a:endParaRPr b="1" sz="2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Next.js, Tailwind, ShadCN</a:t>
                      </a:r>
                      <a:endParaRPr sz="2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Backend &amp; APIs</a:t>
                      </a:r>
                      <a:endParaRPr b="1" sz="2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FastAPI, API Gateway, Celery, Redis</a:t>
                      </a:r>
                      <a:endParaRPr sz="2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AI Core</a:t>
                      </a:r>
                      <a:endParaRPr b="1" sz="2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Whisper, LayoutLMv3, GPT Models</a:t>
                      </a:r>
                      <a:endParaRPr sz="2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Data Layer</a:t>
                      </a:r>
                      <a:endParaRPr b="1" sz="2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PostgreSQL, S3, FAISS / Pinecone</a:t>
                      </a:r>
                      <a:endParaRPr sz="2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5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Output</a:t>
                      </a:r>
                      <a:endParaRPr b="1" sz="2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ReportLab, Jinja2</a:t>
                      </a:r>
                      <a:endParaRPr sz="2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8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Infrastructure</a:t>
                      </a:r>
                      <a:r>
                        <a:rPr b="1" lang="en-US" sz="2200"/>
                        <a:t> &amp; DevOps</a:t>
                      </a:r>
                      <a:endParaRPr b="1" sz="2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Docker, Vercel, AWS, GitHub Actions, Razorpay</a:t>
                      </a:r>
                      <a:endParaRPr sz="2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" name="Google Shape;134;p3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{2E733A78-45CE-4097-A4AF-A42FFFCE1B34}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5" name="Google Shape;135;p3"/>
          <p:cNvSpPr txBox="1"/>
          <p:nvPr/>
        </p:nvSpPr>
        <p:spPr>
          <a:xfrm>
            <a:off x="152395" y="1884575"/>
            <a:ext cx="379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 Overview: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7350" y="2178937"/>
            <a:ext cx="11585393" cy="6471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6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/>
          <p:nvPr/>
        </p:nvSpPr>
        <p:spPr>
          <a:xfrm>
            <a:off x="-408952" y="-408952"/>
            <a:ext cx="2048372" cy="2048372"/>
          </a:xfrm>
          <a:custGeom>
            <a:rect b="b" l="l" r="r" t="t"/>
            <a:pathLst>
              <a:path extrusionOk="0" h="2048372" w="2048372">
                <a:moveTo>
                  <a:pt x="0" y="0"/>
                </a:moveTo>
                <a:lnTo>
                  <a:pt x="2048372" y="0"/>
                </a:lnTo>
                <a:lnTo>
                  <a:pt x="2048372" y="2048372"/>
                </a:lnTo>
                <a:lnTo>
                  <a:pt x="0" y="204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4"/>
          <p:cNvSpPr txBox="1"/>
          <p:nvPr/>
        </p:nvSpPr>
        <p:spPr>
          <a:xfrm>
            <a:off x="149658" y="9205186"/>
            <a:ext cx="2979523" cy="1045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6" u="none" cap="none" strike="noStrik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NEXUS 2.0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17823317" y="9205186"/>
            <a:ext cx="664587" cy="1045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6" u="none" cap="none" strike="noStrik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144" name="Google Shape;144;p4"/>
          <p:cNvCxnSpPr/>
          <p:nvPr/>
        </p:nvCxnSpPr>
        <p:spPr>
          <a:xfrm>
            <a:off x="3612899" y="9951551"/>
            <a:ext cx="13924591" cy="0"/>
          </a:xfrm>
          <a:prstGeom prst="straightConnector1">
            <a:avLst/>
          </a:prstGeom>
          <a:noFill/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4"/>
          <p:cNvSpPr txBox="1"/>
          <p:nvPr/>
        </p:nvSpPr>
        <p:spPr>
          <a:xfrm>
            <a:off x="14237075" y="252850"/>
            <a:ext cx="39522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542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Nomads</a:t>
            </a:r>
            <a:endParaRPr b="1" sz="3542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42">
              <a:solidFill>
                <a:srgbClr val="B31E23"/>
              </a:solidFill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416575" y="271148"/>
            <a:ext cx="9454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&amp; VIABILITY 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507525" y="8308900"/>
            <a:ext cx="7436400" cy="1262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" name="Google Shape;148;p4"/>
          <p:cNvGraphicFramePr/>
          <p:nvPr/>
        </p:nvGraphicFramePr>
        <p:xfrm>
          <a:off x="342921" y="22925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{2E733A78-45CE-4097-A4AF-A42FFFCE1B34}</a:tableStyleId>
              </a:tblPr>
              <a:tblGrid>
                <a:gridCol w="2881075"/>
                <a:gridCol w="5443550"/>
              </a:tblGrid>
              <a:tr h="588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Aspect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Points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8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Proven Technology Stack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Whisper, LayoutLMv3, GPT — production- ready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8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Availability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CGHS rates + IRDAI regulations (public, updatable)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8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Processing Performance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~15s </a:t>
                      </a: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processing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cloud-native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Accessibility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PDFs, images, Hinglish voice input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Legal Positioning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Generates draft appeals, not legal advice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2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Risk &amp; Mitigation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Extend CGHS with NABH/private benchmarks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" name="Google Shape;149;p4"/>
          <p:cNvSpPr txBox="1"/>
          <p:nvPr/>
        </p:nvSpPr>
        <p:spPr>
          <a:xfrm>
            <a:off x="342906" y="1327750"/>
            <a:ext cx="263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Feasibility: 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9612625" y="1284550"/>
            <a:ext cx="2260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Viability</a:t>
            </a: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5507525" y="8343538"/>
            <a:ext cx="7272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&amp; VIABILITY</a:t>
            </a:r>
            <a:endParaRPr b="1" sz="3000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3000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we build it? Will it scale?</a:t>
            </a:r>
            <a:endParaRPr i="1" sz="3000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2" name="Google Shape;152;p4"/>
          <p:cNvGraphicFramePr/>
          <p:nvPr/>
        </p:nvGraphicFramePr>
        <p:xfrm>
          <a:off x="9612625" y="230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{2E733A78-45CE-4097-A4AF-A42FFFCE1B34}</a:tableStyleId>
              </a:tblPr>
              <a:tblGrid>
                <a:gridCol w="3331025"/>
                <a:gridCol w="47848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Aspect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Points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Market Opportunity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50Cr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insured, </a:t>
                      </a: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8M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denials, </a:t>
                      </a: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67%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unchallenged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 Model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₹99/appeal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SaaS + API integrations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 Value Proposition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₹8K–₹15K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savings per bill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Market Capture Potential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 </a:t>
                      </a: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0.1% → 5K+ 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cases/year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Competitive Advantage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CGHS + IRDAI + Hinglish + automated appeals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Distribution Strategy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TPAs, hospitals, aggregators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Scalability &amp; Expansion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Fraud detection, compliance, claims automation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Sustainability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Periodic IRDAI + CGHS updates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6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9395471" y="4439013"/>
            <a:ext cx="7897200" cy="1493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-408952" y="-426052"/>
            <a:ext cx="2048372" cy="2048372"/>
          </a:xfrm>
          <a:custGeom>
            <a:rect b="b" l="l" r="r" t="t"/>
            <a:pathLst>
              <a:path extrusionOk="0" h="2048372" w="2048372">
                <a:moveTo>
                  <a:pt x="0" y="0"/>
                </a:moveTo>
                <a:lnTo>
                  <a:pt x="2048372" y="0"/>
                </a:lnTo>
                <a:lnTo>
                  <a:pt x="2048372" y="2048372"/>
                </a:lnTo>
                <a:lnTo>
                  <a:pt x="0" y="204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5"/>
          <p:cNvSpPr txBox="1"/>
          <p:nvPr/>
        </p:nvSpPr>
        <p:spPr>
          <a:xfrm>
            <a:off x="149658" y="9205186"/>
            <a:ext cx="29796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6" u="none" cap="none" strike="noStrik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NEXUS 2.0</a:t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17823317" y="9205186"/>
            <a:ext cx="664587" cy="1045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6" u="none" cap="none" strike="noStrik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767038" y="4435833"/>
            <a:ext cx="7897200" cy="1493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5"/>
          <p:cNvCxnSpPr/>
          <p:nvPr/>
        </p:nvCxnSpPr>
        <p:spPr>
          <a:xfrm>
            <a:off x="3612899" y="9951551"/>
            <a:ext cx="13924591" cy="0"/>
          </a:xfrm>
          <a:prstGeom prst="straightConnector1">
            <a:avLst/>
          </a:prstGeom>
          <a:noFill/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5"/>
          <p:cNvSpPr txBox="1"/>
          <p:nvPr/>
        </p:nvSpPr>
        <p:spPr>
          <a:xfrm>
            <a:off x="14033850" y="286475"/>
            <a:ext cx="41217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542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Nomads</a:t>
            </a:r>
            <a:endParaRPr b="1" sz="3542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42">
              <a:solidFill>
                <a:srgbClr val="B31E23"/>
              </a:solidFill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5654475" y="225150"/>
            <a:ext cx="662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&amp; BENEFITS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40075" y="1199475"/>
            <a:ext cx="148464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2250"/>
              <a:buFont typeface="Barlow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Transforming Healthcare Financial Protection</a:t>
            </a:r>
            <a:endParaRPr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767038" y="6922273"/>
            <a:ext cx="7897200" cy="1074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40075" y="1927750"/>
            <a:ext cx="65109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1350"/>
              <a:buFont typeface="Barlow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Addressing Critical Ecosystem Gaps</a:t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40075" y="2521650"/>
            <a:ext cx="170871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MedGuard AI bridges the gap between complex healthcare billing and patient financial protection—enabling fast, accurate, and accessible recovery of unjustified charges.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733278" y="3827229"/>
            <a:ext cx="7964700" cy="244500"/>
          </a:xfrm>
          <a:prstGeom prst="roundRect">
            <a:avLst>
              <a:gd fmla="val 150125" name="adj"/>
            </a:avLst>
          </a:prstGeom>
          <a:solidFill>
            <a:srgbClr val="B31E23"/>
          </a:solidFill>
          <a:ln cap="flat" cmpd="sng" w="9525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529888" y="3582656"/>
            <a:ext cx="406800" cy="732900"/>
          </a:xfrm>
          <a:prstGeom prst="roundRect">
            <a:avLst>
              <a:gd fmla="val 138879" name="adj"/>
            </a:avLst>
          </a:prstGeom>
          <a:solidFill>
            <a:srgbClr val="B31E23"/>
          </a:solidFill>
          <a:ln cap="flat" cmpd="sng" w="9525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882988" y="4517896"/>
            <a:ext cx="29796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Barlow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Accessibility First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935387" y="5004633"/>
            <a:ext cx="75384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Hinglish voice + simple UI removes language and technical barriers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Montserrat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9414226" y="3828456"/>
            <a:ext cx="7964700" cy="244500"/>
          </a:xfrm>
          <a:prstGeom prst="roundRect">
            <a:avLst>
              <a:gd fmla="val 150125" name="adj"/>
            </a:avLst>
          </a:prstGeom>
          <a:solidFill>
            <a:srgbClr val="B31E23"/>
          </a:solidFill>
          <a:ln cap="flat" cmpd="sng" w="9525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9210836" y="3583883"/>
            <a:ext cx="406800" cy="732900"/>
          </a:xfrm>
          <a:prstGeom prst="roundRect">
            <a:avLst>
              <a:gd fmla="val 138879" name="adj"/>
            </a:avLst>
          </a:prstGeom>
          <a:solidFill>
            <a:srgbClr val="B31E23"/>
          </a:solidFill>
          <a:ln cap="flat" cmpd="sng" w="9525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9540143" y="4497424"/>
            <a:ext cx="41217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Barlow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Through AI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9540146" y="4993258"/>
            <a:ext cx="7658400" cy="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CGHS benchmarking + multi-agent reasoning ensures reliable detection and valid appeals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733278" y="6293790"/>
            <a:ext cx="7964700" cy="244500"/>
          </a:xfrm>
          <a:prstGeom prst="roundRect">
            <a:avLst>
              <a:gd fmla="val 150125" name="adj"/>
            </a:avLst>
          </a:prstGeom>
          <a:solidFill>
            <a:srgbClr val="B31E23"/>
          </a:solidFill>
          <a:ln cap="flat" cmpd="sng" w="9525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529888" y="6049216"/>
            <a:ext cx="406800" cy="732900"/>
          </a:xfrm>
          <a:prstGeom prst="roundRect">
            <a:avLst>
              <a:gd fmla="val 138879" name="adj"/>
            </a:avLst>
          </a:prstGeom>
          <a:solidFill>
            <a:srgbClr val="B31E23"/>
          </a:solidFill>
          <a:ln cap="flat" cmpd="sng" w="9525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9395463" y="6906000"/>
            <a:ext cx="7897200" cy="1074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882995" y="7005593"/>
            <a:ext cx="41217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Barlow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 at Scale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868613" y="7425105"/>
            <a:ext cx="75384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~15s processing vs hours/days → instant actionable insights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9434464" y="6296240"/>
            <a:ext cx="7964700" cy="244500"/>
          </a:xfrm>
          <a:prstGeom prst="roundRect">
            <a:avLst>
              <a:gd fmla="val 150125" name="adj"/>
            </a:avLst>
          </a:prstGeom>
          <a:solidFill>
            <a:srgbClr val="B31E23"/>
          </a:solidFill>
          <a:ln cap="flat" cmpd="sng" w="9525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9231074" y="6051664"/>
            <a:ext cx="406800" cy="732900"/>
          </a:xfrm>
          <a:prstGeom prst="roundRect">
            <a:avLst>
              <a:gd fmla="val 138879" name="adj"/>
            </a:avLst>
          </a:prstGeom>
          <a:solidFill>
            <a:srgbClr val="B31E23"/>
          </a:solidFill>
          <a:ln cap="flat" cmpd="sng" w="9525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9525673" y="6993179"/>
            <a:ext cx="46038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100"/>
              <a:buFont typeface="Barlow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Savings Visibility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9525686" y="7479929"/>
            <a:ext cx="75384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850"/>
              <a:buFont typeface="Montserrat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recovery insights (₹12K+) drive trust and adoption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529888" y="3741361"/>
            <a:ext cx="406800" cy="415500"/>
          </a:xfrm>
          <a:prstGeom prst="rect">
            <a:avLst/>
          </a:prstGeom>
          <a:solidFill>
            <a:srgbClr val="B31E23"/>
          </a:solidFill>
          <a:ln cap="flat" cmpd="sng" w="9525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endParaRPr b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9210838" y="3739936"/>
            <a:ext cx="406800" cy="415500"/>
          </a:xfrm>
          <a:prstGeom prst="rect">
            <a:avLst/>
          </a:prstGeom>
          <a:solidFill>
            <a:srgbClr val="B31E23"/>
          </a:solidFill>
          <a:ln cap="flat" cmpd="sng" w="9525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endParaRPr b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015925" y="8544100"/>
            <a:ext cx="7897200" cy="732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529888" y="6217861"/>
            <a:ext cx="406800" cy="415500"/>
          </a:xfrm>
          <a:prstGeom prst="rect">
            <a:avLst/>
          </a:prstGeom>
          <a:solidFill>
            <a:srgbClr val="B31E23"/>
          </a:solidFill>
          <a:ln cap="flat" cmpd="sng" w="9525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  <a:endParaRPr b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9231076" y="6205986"/>
            <a:ext cx="406800" cy="415500"/>
          </a:xfrm>
          <a:prstGeom prst="rect">
            <a:avLst/>
          </a:prstGeom>
          <a:solidFill>
            <a:srgbClr val="B31E23"/>
          </a:solidFill>
          <a:ln cap="flat" cmpd="sng" w="9525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5135325" y="8576250"/>
            <a:ext cx="765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→ Analysis → Appeal → Recovery</a:t>
            </a:r>
            <a:endParaRPr b="1" sz="3000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6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/>
          <p:nvPr/>
        </p:nvSpPr>
        <p:spPr>
          <a:xfrm>
            <a:off x="-408952" y="-408952"/>
            <a:ext cx="2048372" cy="2048372"/>
          </a:xfrm>
          <a:custGeom>
            <a:rect b="b" l="l" r="r" t="t"/>
            <a:pathLst>
              <a:path extrusionOk="0" h="2048372" w="2048372">
                <a:moveTo>
                  <a:pt x="0" y="0"/>
                </a:moveTo>
                <a:lnTo>
                  <a:pt x="2048372" y="0"/>
                </a:lnTo>
                <a:lnTo>
                  <a:pt x="2048372" y="2048372"/>
                </a:lnTo>
                <a:lnTo>
                  <a:pt x="0" y="204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6"/>
          <p:cNvSpPr txBox="1"/>
          <p:nvPr/>
        </p:nvSpPr>
        <p:spPr>
          <a:xfrm>
            <a:off x="113025" y="9649453"/>
            <a:ext cx="29796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6" u="none" cap="none" strike="noStrik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NEXUS 2.0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17823317" y="9205186"/>
            <a:ext cx="664587" cy="1045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6" u="none" cap="none" strike="noStrike">
                <a:solidFill>
                  <a:srgbClr val="B31E2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199" name="Google Shape;199;p6"/>
          <p:cNvCxnSpPr/>
          <p:nvPr/>
        </p:nvCxnSpPr>
        <p:spPr>
          <a:xfrm>
            <a:off x="3612899" y="9951551"/>
            <a:ext cx="13924591" cy="0"/>
          </a:xfrm>
          <a:prstGeom prst="straightConnector1">
            <a:avLst/>
          </a:prstGeom>
          <a:noFill/>
          <a:ln cap="flat" cmpd="sng" w="38100">
            <a:solidFill>
              <a:srgbClr val="B31E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6"/>
          <p:cNvSpPr txBox="1"/>
          <p:nvPr/>
        </p:nvSpPr>
        <p:spPr>
          <a:xfrm>
            <a:off x="0" y="4742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14033850" y="286475"/>
            <a:ext cx="41217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542">
                <a:solidFill>
                  <a:srgbClr val="B31E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Neural Nomads</a:t>
            </a:r>
            <a:endParaRPr b="1" sz="3542">
              <a:solidFill>
                <a:srgbClr val="B31E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42">
              <a:solidFill>
                <a:srgbClr val="B31E23"/>
              </a:solidFill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5630950" y="286475"/>
            <a:ext cx="598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3" name="Google Shape;203;p6"/>
          <p:cNvGraphicFramePr/>
          <p:nvPr/>
        </p:nvGraphicFramePr>
        <p:xfrm>
          <a:off x="342900" y="1558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{2E733A78-45CE-4097-A4AF-A42FFFCE1B34}</a:tableStyleId>
              </a:tblPr>
              <a:tblGrid>
                <a:gridCol w="4684475"/>
                <a:gridCol w="2072250"/>
                <a:gridCol w="5866525"/>
                <a:gridCol w="4801225"/>
              </a:tblGrid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Role in MedGuard AI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Link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CGHS (Govt. of India)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Pricing Benchmark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Standard rates used to detect hospital overcharges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4"/>
                        </a:rPr>
                        <a:t>https://cghs.mohfw.gov.in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IRDAI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Insurance Regulation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Defines claim rules, approvals, and appeal frameworks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5"/>
                        </a:rPr>
                        <a:t>https://www.irdai.gov.in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IRDAI Annual Reports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Market Data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Provides claim denial rates and insurance trends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6"/>
                        </a:rPr>
                        <a:t>https://irdai.gov.in/annual-reports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National Health Authority (Ayushman Bharat)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 Coverage Data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Validates scale of insured population in India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7"/>
                        </a:rPr>
                        <a:t>https://nha.gov.in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NDHM (Digital Health Mission)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Health Infrastructure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Supports digital health ecosystem &amp; interoperability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8"/>
                        </a:rPr>
                        <a:t>https://ndhm.gov.in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NABH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Hospital Standards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 for private hospital practices (future benchmarking)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9"/>
                        </a:rPr>
                        <a:t>https://nabh.co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WHO (Health Financing)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Global Context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Validates need for transparency in healthcare financing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10"/>
                        </a:rPr>
                        <a:t>https://www.who.int/health-topics/health-financing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World Bank Health Data</a:t>
                      </a:r>
                      <a:endParaRPr b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Economic Validation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Supports macro-level healthcare spending insights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11"/>
                        </a:rPr>
                        <a:t>https://data.worldbank.org</a:t>
                      </a:r>
                      <a:endParaRPr sz="2200" u="sng">
                        <a:solidFill>
                          <a:schemeClr val="hlink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31E2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Shivi</dc:creator>
</cp:coreProperties>
</file>