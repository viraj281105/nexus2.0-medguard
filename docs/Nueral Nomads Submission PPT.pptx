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8288000" cy="10287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095">
          <p15:clr>
            <a:srgbClr val="000000"/>
          </p15:clr>
        </p15:guide>
        <p15:guide id="2" pos="216">
          <p15:clr>
            <a:srgbClr val="000000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3" roundtripDataSignature="AMtx7miDMJFzJnXsxoAd7F0YPHpDMMwN1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70F69FB-F8BB-4007-8483-0752D75E864A}">
  <a:tblStyle styleId="{570F69FB-F8BB-4007-8483-0752D75E864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2" d="100"/>
          <a:sy n="72" d="100"/>
        </p:scale>
        <p:origin x="152" y="124"/>
      </p:cViewPr>
      <p:guideLst>
        <p:guide orient="horz" pos="2095"/>
        <p:guide pos="21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customschemas.google.com/relationships/presentationmetadata" Target="meta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4" Type="http://schemas.openxmlformats.org/officeDocument/2006/relationships/slide" Target="slides/slide3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" name="Google Shape;14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3" name="Google Shape;16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5" name="Google Shape;205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9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9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0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0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1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1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2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12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3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13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13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13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1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5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5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15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1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6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6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7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8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8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7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://github.com/Viraj281105/Advocai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hyperlink" Target="https://ndhm.gov.in/" TargetMode="External"/><Relationship Id="rId3" Type="http://schemas.openxmlformats.org/officeDocument/2006/relationships/image" Target="../media/image1.png"/><Relationship Id="rId7" Type="http://schemas.openxmlformats.org/officeDocument/2006/relationships/hyperlink" Target="https://nha.gov.in/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irdai.gov.in/annual-reports" TargetMode="External"/><Relationship Id="rId11" Type="http://schemas.openxmlformats.org/officeDocument/2006/relationships/hyperlink" Target="https://data.worldbank.org/" TargetMode="External"/><Relationship Id="rId5" Type="http://schemas.openxmlformats.org/officeDocument/2006/relationships/hyperlink" Target="https://www.irdai.gov.in/" TargetMode="External"/><Relationship Id="rId10" Type="http://schemas.openxmlformats.org/officeDocument/2006/relationships/hyperlink" Target="https://www.who.int/health-topics/health-financing" TargetMode="External"/><Relationship Id="rId4" Type="http://schemas.openxmlformats.org/officeDocument/2006/relationships/hyperlink" Target="https://cghs.mohfw.gov.in/" TargetMode="External"/><Relationship Id="rId9" Type="http://schemas.openxmlformats.org/officeDocument/2006/relationships/hyperlink" Target="https://nabh.co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6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-1292811" y="148903"/>
            <a:ext cx="11360988" cy="11360988"/>
          </a:xfrm>
          <a:custGeom>
            <a:avLst/>
            <a:gdLst/>
            <a:ahLst/>
            <a:cxnLst/>
            <a:rect l="l" t="t" r="r" b="b"/>
            <a:pathLst>
              <a:path w="11360988" h="11360988" extrusionOk="0">
                <a:moveTo>
                  <a:pt x="0" y="0"/>
                </a:moveTo>
                <a:lnTo>
                  <a:pt x="11360988" y="0"/>
                </a:lnTo>
                <a:lnTo>
                  <a:pt x="11360988" y="11360989"/>
                </a:lnTo>
                <a:lnTo>
                  <a:pt x="0" y="1136098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9000"/>
            </a:blip>
            <a:stretch>
              <a:fillRect/>
            </a:stretch>
          </a:blipFill>
          <a:ln>
            <a:noFill/>
          </a:ln>
        </p:spPr>
      </p:sp>
      <p:grpSp>
        <p:nvGrpSpPr>
          <p:cNvPr id="85" name="Google Shape;85;p1"/>
          <p:cNvGrpSpPr/>
          <p:nvPr/>
        </p:nvGrpSpPr>
        <p:grpSpPr>
          <a:xfrm>
            <a:off x="11600712" y="6339195"/>
            <a:ext cx="6790294" cy="6291531"/>
            <a:chOff x="0" y="0"/>
            <a:chExt cx="812800" cy="753098"/>
          </a:xfrm>
        </p:grpSpPr>
        <p:sp>
          <p:nvSpPr>
            <p:cNvPr id="86" name="Google Shape;86;p1"/>
            <p:cNvSpPr/>
            <p:nvPr/>
          </p:nvSpPr>
          <p:spPr>
            <a:xfrm>
              <a:off x="0" y="0"/>
              <a:ext cx="812800" cy="753098"/>
            </a:xfrm>
            <a:custGeom>
              <a:avLst/>
              <a:gdLst/>
              <a:ahLst/>
              <a:cxnLst/>
              <a:rect l="l" t="t" r="r" b="b"/>
              <a:pathLst>
                <a:path w="812800" h="753098" extrusionOk="0">
                  <a:moveTo>
                    <a:pt x="406400" y="0"/>
                  </a:moveTo>
                  <a:cubicBezTo>
                    <a:pt x="181951" y="0"/>
                    <a:pt x="0" y="168587"/>
                    <a:pt x="0" y="376549"/>
                  </a:cubicBezTo>
                  <a:cubicBezTo>
                    <a:pt x="0" y="584512"/>
                    <a:pt x="181951" y="753098"/>
                    <a:pt x="406400" y="753098"/>
                  </a:cubicBezTo>
                  <a:cubicBezTo>
                    <a:pt x="630849" y="753098"/>
                    <a:pt x="812800" y="584512"/>
                    <a:pt x="812800" y="376549"/>
                  </a:cubicBezTo>
                  <a:cubicBezTo>
                    <a:pt x="812800" y="168587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1C1A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7" name="Google Shape;87;p1"/>
            <p:cNvSpPr txBox="1"/>
            <p:nvPr/>
          </p:nvSpPr>
          <p:spPr>
            <a:xfrm>
              <a:off x="76200" y="32503"/>
              <a:ext cx="660300" cy="650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88" name="Google Shape;88;p1"/>
          <p:cNvSpPr/>
          <p:nvPr/>
        </p:nvSpPr>
        <p:spPr>
          <a:xfrm>
            <a:off x="-733979" y="-733979"/>
            <a:ext cx="3525357" cy="3525357"/>
          </a:xfrm>
          <a:custGeom>
            <a:avLst/>
            <a:gdLst/>
            <a:ahLst/>
            <a:cxnLst/>
            <a:rect l="l" t="t" r="r" b="b"/>
            <a:pathLst>
              <a:path w="3525357" h="3525357" extrusionOk="0">
                <a:moveTo>
                  <a:pt x="0" y="0"/>
                </a:moveTo>
                <a:lnTo>
                  <a:pt x="3525358" y="0"/>
                </a:lnTo>
                <a:lnTo>
                  <a:pt x="3525358" y="3525358"/>
                </a:lnTo>
                <a:lnTo>
                  <a:pt x="0" y="352535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89" name="Google Shape;89;p1"/>
          <p:cNvSpPr txBox="1"/>
          <p:nvPr/>
        </p:nvSpPr>
        <p:spPr>
          <a:xfrm>
            <a:off x="11307525" y="148901"/>
            <a:ext cx="6886200" cy="139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4"/>
              </a:lnSpc>
              <a:spcBef>
                <a:spcPts val="0"/>
              </a:spcBef>
              <a:spcAft>
                <a:spcPts val="0"/>
              </a:spcAft>
              <a:buClr>
                <a:srgbClr val="B31E23"/>
              </a:buClr>
              <a:buSzPts val="9074"/>
              <a:buFont typeface="Arial"/>
              <a:buNone/>
            </a:pPr>
            <a:r>
              <a:rPr lang="en-US" sz="9074" b="1" i="0" u="none" strike="noStrike" cap="none">
                <a:solidFill>
                  <a:srgbClr val="B31E2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NEXUS 2.0</a:t>
            </a:r>
            <a:endParaRPr sz="18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0" name="Google Shape;90;p1"/>
          <p:cNvSpPr txBox="1"/>
          <p:nvPr/>
        </p:nvSpPr>
        <p:spPr>
          <a:xfrm>
            <a:off x="1136342" y="3428998"/>
            <a:ext cx="16015200" cy="384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27"/>
              <a:buFont typeface="Roboto"/>
              <a:buNone/>
            </a:pPr>
            <a:r>
              <a:rPr lang="en-US" sz="48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Team Name: </a:t>
            </a:r>
            <a:r>
              <a:rPr lang="en-US" sz="48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Neural Nomads</a:t>
            </a:r>
            <a:endParaRPr/>
          </a:p>
          <a:p>
            <a:pPr marL="0" marR="0" lvl="0" indent="0" algn="ctr" rtl="0">
              <a:lnSpc>
                <a:spcPct val="1400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27"/>
              <a:buFont typeface="Roboto"/>
              <a:buNone/>
            </a:pPr>
            <a:r>
              <a:rPr lang="en-US" sz="48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Problem Statement: </a:t>
            </a:r>
            <a:r>
              <a:rPr lang="en-US" sz="48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AI-Powered Medical Billing Auditor &amp; Insurance Appeal Engine for India</a:t>
            </a:r>
            <a:endParaRPr/>
          </a:p>
          <a:p>
            <a:pPr marL="0" marR="0" lvl="0" indent="0" algn="ctr" rtl="0">
              <a:lnSpc>
                <a:spcPct val="1400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27"/>
              <a:buFont typeface="Roboto"/>
              <a:buNone/>
            </a:pPr>
            <a:r>
              <a:rPr lang="en-US" sz="48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Team Members:</a:t>
            </a:r>
            <a:r>
              <a:rPr lang="en-US" sz="48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Viraj Jadhao, Bhumi Sirvi</a:t>
            </a:r>
            <a:endParaRPr sz="16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1" name="Google Shape;91;p1"/>
          <p:cNvSpPr txBox="1"/>
          <p:nvPr/>
        </p:nvSpPr>
        <p:spPr>
          <a:xfrm>
            <a:off x="6526050" y="2101900"/>
            <a:ext cx="5235900" cy="7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672"/>
              <a:buFont typeface="Roboto"/>
              <a:buNone/>
            </a:pPr>
            <a:r>
              <a:rPr lang="en-US" sz="50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TITLE PAGE</a:t>
            </a:r>
            <a:endParaRPr sz="50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6"/>
        </a:solidFill>
        <a:effectLst/>
      </p:bgPr>
    </p:bg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"/>
          <p:cNvSpPr/>
          <p:nvPr/>
        </p:nvSpPr>
        <p:spPr>
          <a:xfrm>
            <a:off x="7535200" y="4389591"/>
            <a:ext cx="9868500" cy="192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42900" marR="0" lvl="0" indent="-3556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imes New Roman"/>
              <a:buChar char="•"/>
            </a:pPr>
            <a:r>
              <a:rPr lang="en-US" sz="220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Non-standardized and highly complex hospital billing formats that vary between institutions</a:t>
            </a:r>
            <a:endParaRPr sz="220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556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imes New Roman"/>
              <a:buChar char="•"/>
            </a:pPr>
            <a:r>
              <a:rPr lang="en-US" sz="220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Lack of accessible interpretation of IRDAI regulations and compliance requirements</a:t>
            </a:r>
            <a:endParaRPr sz="220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556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imes New Roman"/>
              <a:buChar char="•"/>
            </a:pPr>
            <a:r>
              <a:rPr lang="en-US" sz="220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Absence of automated tools that can analyze bills and generate evidence-based appeals</a:t>
            </a:r>
            <a:endParaRPr sz="220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7" name="Google Shape;97;p2"/>
          <p:cNvSpPr/>
          <p:nvPr/>
        </p:nvSpPr>
        <p:spPr>
          <a:xfrm>
            <a:off x="-408952" y="-408952"/>
            <a:ext cx="2048372" cy="2048372"/>
          </a:xfrm>
          <a:custGeom>
            <a:avLst/>
            <a:gdLst/>
            <a:ahLst/>
            <a:cxnLst/>
            <a:rect l="l" t="t" r="r" b="b"/>
            <a:pathLst>
              <a:path w="2048372" h="2048372" extrusionOk="0">
                <a:moveTo>
                  <a:pt x="0" y="0"/>
                </a:moveTo>
                <a:lnTo>
                  <a:pt x="2048372" y="0"/>
                </a:lnTo>
                <a:lnTo>
                  <a:pt x="2048372" y="2048372"/>
                </a:lnTo>
                <a:lnTo>
                  <a:pt x="0" y="204837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98" name="Google Shape;98;p2"/>
          <p:cNvSpPr txBox="1"/>
          <p:nvPr/>
        </p:nvSpPr>
        <p:spPr>
          <a:xfrm>
            <a:off x="149658" y="9205186"/>
            <a:ext cx="2979600" cy="60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26" b="1" i="0" u="none" strike="noStrike" cap="none">
                <a:solidFill>
                  <a:srgbClr val="B31E2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NEXUS 2.0</a:t>
            </a:r>
            <a:endParaRPr/>
          </a:p>
        </p:txBody>
      </p:sp>
      <p:sp>
        <p:nvSpPr>
          <p:cNvPr id="99" name="Google Shape;99;p2"/>
          <p:cNvSpPr txBox="1"/>
          <p:nvPr/>
        </p:nvSpPr>
        <p:spPr>
          <a:xfrm>
            <a:off x="17823317" y="9205186"/>
            <a:ext cx="664587" cy="604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26" b="1" i="0" u="none" strike="noStrike" cap="none">
                <a:solidFill>
                  <a:srgbClr val="B31E2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/>
          </a:p>
        </p:txBody>
      </p:sp>
      <p:cxnSp>
        <p:nvCxnSpPr>
          <p:cNvPr id="100" name="Google Shape;100;p2"/>
          <p:cNvCxnSpPr/>
          <p:nvPr/>
        </p:nvCxnSpPr>
        <p:spPr>
          <a:xfrm>
            <a:off x="3612899" y="9951551"/>
            <a:ext cx="13924591" cy="0"/>
          </a:xfrm>
          <a:prstGeom prst="straightConnector1">
            <a:avLst/>
          </a:prstGeom>
          <a:noFill/>
          <a:ln w="38100" cap="flat" cmpd="sng">
            <a:solidFill>
              <a:srgbClr val="B31E23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01" name="Google Shape;101;p2"/>
          <p:cNvSpPr txBox="1"/>
          <p:nvPr/>
        </p:nvSpPr>
        <p:spPr>
          <a:xfrm>
            <a:off x="14878149" y="286475"/>
            <a:ext cx="3277500" cy="54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3542" b="1">
                <a:solidFill>
                  <a:srgbClr val="B31E2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Neural Nomads</a:t>
            </a:r>
            <a:endParaRPr sz="3542" b="1">
              <a:solidFill>
                <a:srgbClr val="B31E2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2" name="Google Shape;102;p2"/>
          <p:cNvSpPr/>
          <p:nvPr/>
        </p:nvSpPr>
        <p:spPr>
          <a:xfrm>
            <a:off x="655579" y="5215948"/>
            <a:ext cx="2894700" cy="1167900"/>
          </a:xfrm>
          <a:prstGeom prst="rect">
            <a:avLst/>
          </a:prstGeom>
          <a:solidFill>
            <a:schemeClr val="lt1"/>
          </a:solidFill>
          <a:ln w="42575" cap="flat" cmpd="sng">
            <a:solidFill>
              <a:srgbClr val="B31E2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2150" tIns="102150" rIns="102150" bIns="1021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564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3" name="Google Shape;103;p2"/>
          <p:cNvSpPr/>
          <p:nvPr/>
        </p:nvSpPr>
        <p:spPr>
          <a:xfrm>
            <a:off x="655550" y="3669375"/>
            <a:ext cx="2894700" cy="1143900"/>
          </a:xfrm>
          <a:prstGeom prst="rect">
            <a:avLst/>
          </a:prstGeom>
          <a:solidFill>
            <a:schemeClr val="lt1"/>
          </a:solidFill>
          <a:ln w="42575" cap="flat" cmpd="sng">
            <a:solidFill>
              <a:srgbClr val="B31E2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2150" tIns="102150" rIns="102150" bIns="1021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68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4" name="Google Shape;104;p2"/>
          <p:cNvSpPr txBox="1"/>
          <p:nvPr/>
        </p:nvSpPr>
        <p:spPr>
          <a:xfrm>
            <a:off x="6640875" y="347675"/>
            <a:ext cx="5035200" cy="7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0" b="1">
                <a:latin typeface="Times New Roman"/>
                <a:ea typeface="Times New Roman"/>
                <a:cs typeface="Times New Roman"/>
                <a:sym typeface="Times New Roman"/>
              </a:rPr>
              <a:t>THE PROBLEM </a:t>
            </a:r>
            <a:endParaRPr sz="5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5" name="Google Shape;105;p2"/>
          <p:cNvSpPr/>
          <p:nvPr/>
        </p:nvSpPr>
        <p:spPr>
          <a:xfrm>
            <a:off x="655560" y="1185436"/>
            <a:ext cx="14309400" cy="7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Times New Roman"/>
              <a:buNone/>
            </a:pPr>
            <a:r>
              <a:rPr lang="en-US" sz="40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Healthcare Financing Crisis in India</a:t>
            </a:r>
            <a:endParaRPr sz="400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6" name="Google Shape;106;p2"/>
          <p:cNvSpPr/>
          <p:nvPr/>
        </p:nvSpPr>
        <p:spPr>
          <a:xfrm>
            <a:off x="4057879" y="5223251"/>
            <a:ext cx="2894700" cy="1167900"/>
          </a:xfrm>
          <a:prstGeom prst="rect">
            <a:avLst/>
          </a:prstGeom>
          <a:solidFill>
            <a:schemeClr val="lt1"/>
          </a:solidFill>
          <a:ln w="42575" cap="flat" cmpd="sng">
            <a:solidFill>
              <a:srgbClr val="B31E2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2150" tIns="102150" rIns="102150" bIns="1021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564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7" name="Google Shape;107;p2"/>
          <p:cNvSpPr/>
          <p:nvPr/>
        </p:nvSpPr>
        <p:spPr>
          <a:xfrm>
            <a:off x="655560" y="2019741"/>
            <a:ext cx="14049000" cy="8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Opaque. Complex. Exploitative.</a:t>
            </a:r>
            <a:endParaRPr sz="2200" b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Healthcare billing and insurance systems in India lack transparency, leading to </a:t>
            </a:r>
            <a:r>
              <a:rPr lang="en-US" sz="22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unchecked overcharges and denied claims.</a:t>
            </a:r>
            <a:endParaRPr sz="2200" b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381000" lvl="0" indent="0" algn="l" rtl="0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2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8" name="Google Shape;108;p2"/>
          <p:cNvSpPr/>
          <p:nvPr/>
        </p:nvSpPr>
        <p:spPr>
          <a:xfrm>
            <a:off x="4083814" y="3669375"/>
            <a:ext cx="2894700" cy="1143900"/>
          </a:xfrm>
          <a:prstGeom prst="rect">
            <a:avLst/>
          </a:prstGeom>
          <a:solidFill>
            <a:schemeClr val="lt1"/>
          </a:solidFill>
          <a:ln w="42575" cap="flat" cmpd="sng">
            <a:solidFill>
              <a:srgbClr val="B31E2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2150" tIns="102150" rIns="102150" bIns="1021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564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9" name="Google Shape;109;p2"/>
          <p:cNvSpPr/>
          <p:nvPr/>
        </p:nvSpPr>
        <p:spPr>
          <a:xfrm>
            <a:off x="1269426" y="3703964"/>
            <a:ext cx="1667100" cy="68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7"/>
              <a:buFont typeface="Times New Roman"/>
              <a:buNone/>
            </a:pPr>
            <a:r>
              <a:rPr lang="en-US" sz="45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50Cr</a:t>
            </a:r>
            <a:endParaRPr sz="450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0" name="Google Shape;110;p2"/>
          <p:cNvSpPr/>
          <p:nvPr/>
        </p:nvSpPr>
        <p:spPr>
          <a:xfrm>
            <a:off x="930215" y="4394933"/>
            <a:ext cx="2345700" cy="41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3"/>
              <a:buFont typeface="Times New Roman"/>
              <a:buNone/>
            </a:pPr>
            <a:r>
              <a:rPr lang="en-US" sz="2011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Insured Population</a:t>
            </a:r>
            <a:endParaRPr sz="2011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1" name="Google Shape;111;p2"/>
          <p:cNvSpPr/>
          <p:nvPr/>
        </p:nvSpPr>
        <p:spPr>
          <a:xfrm>
            <a:off x="4083810" y="5260312"/>
            <a:ext cx="2894700" cy="69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7"/>
              <a:buFont typeface="Times New Roman"/>
              <a:buNone/>
            </a:pPr>
            <a:r>
              <a:rPr lang="en-US" sz="45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₹8K-15K</a:t>
            </a:r>
            <a:endParaRPr sz="450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2" name="Google Shape;112;p2"/>
          <p:cNvSpPr/>
          <p:nvPr/>
        </p:nvSpPr>
        <p:spPr>
          <a:xfrm>
            <a:off x="4961822" y="3697568"/>
            <a:ext cx="1138800" cy="69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7"/>
              <a:buFont typeface="Times New Roman"/>
              <a:buNone/>
            </a:pPr>
            <a:r>
              <a:rPr lang="en-US" sz="45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8M</a:t>
            </a:r>
            <a:endParaRPr sz="450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3" name="Google Shape;113;p2"/>
          <p:cNvSpPr/>
          <p:nvPr/>
        </p:nvSpPr>
        <p:spPr>
          <a:xfrm>
            <a:off x="4303246" y="4323619"/>
            <a:ext cx="2540700" cy="42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3"/>
              <a:buFont typeface="Times New Roman"/>
              <a:buNone/>
            </a:pPr>
            <a:r>
              <a:rPr lang="en-US" sz="2011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Annual Claim Denials</a:t>
            </a:r>
            <a:endParaRPr sz="2011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4" name="Google Shape;114;p2"/>
          <p:cNvSpPr/>
          <p:nvPr/>
        </p:nvSpPr>
        <p:spPr>
          <a:xfrm>
            <a:off x="1311999" y="5310062"/>
            <a:ext cx="1511400" cy="68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7"/>
              <a:buFont typeface="Times New Roman"/>
              <a:buNone/>
            </a:pPr>
            <a:r>
              <a:rPr lang="en-US" sz="45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67%</a:t>
            </a:r>
            <a:endParaRPr sz="450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5" name="Google Shape;115;p2"/>
          <p:cNvSpPr/>
          <p:nvPr/>
        </p:nvSpPr>
        <p:spPr>
          <a:xfrm>
            <a:off x="996313" y="5920608"/>
            <a:ext cx="2142600" cy="33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3"/>
              <a:buFont typeface="Times New Roman"/>
              <a:buNone/>
            </a:pPr>
            <a:r>
              <a:rPr lang="en-US" sz="2011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Never Appealed</a:t>
            </a:r>
            <a:endParaRPr sz="2011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6" name="Google Shape;116;p2"/>
          <p:cNvSpPr/>
          <p:nvPr/>
        </p:nvSpPr>
        <p:spPr>
          <a:xfrm>
            <a:off x="7535200" y="3669375"/>
            <a:ext cx="4058700" cy="51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None/>
            </a:pPr>
            <a:r>
              <a:rPr lang="en-US" sz="30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Why This Gap Exists?</a:t>
            </a:r>
            <a:endParaRPr sz="300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7" name="Google Shape;117;p2"/>
          <p:cNvSpPr txBox="1"/>
          <p:nvPr/>
        </p:nvSpPr>
        <p:spPr>
          <a:xfrm>
            <a:off x="655560" y="6535919"/>
            <a:ext cx="3170100" cy="8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246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>
                <a:latin typeface="Times New Roman"/>
                <a:ea typeface="Times New Roman"/>
                <a:cs typeface="Times New Roman"/>
                <a:sym typeface="Times New Roman"/>
              </a:rPr>
              <a:t>Our Solution</a:t>
            </a:r>
            <a:endParaRPr sz="4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8" name="Google Shape;118;p2"/>
          <p:cNvSpPr txBox="1"/>
          <p:nvPr/>
        </p:nvSpPr>
        <p:spPr>
          <a:xfrm>
            <a:off x="655550" y="7210536"/>
            <a:ext cx="108516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1800"/>
              </a:spcBef>
              <a:spcAft>
                <a:spcPts val="400"/>
              </a:spcAft>
              <a:buNone/>
            </a:pPr>
            <a:r>
              <a:rPr lang="en-US" sz="24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What We Do:</a:t>
            </a:r>
            <a:r>
              <a:rPr lang="en-US" sz="22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2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AI system that audits bills and auto-generates insurance appeals.</a:t>
            </a:r>
            <a:endParaRPr sz="22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19" name="Google Shape;119;p2"/>
          <p:cNvCxnSpPr/>
          <p:nvPr/>
        </p:nvCxnSpPr>
        <p:spPr>
          <a:xfrm rot="10800000" flipH="1">
            <a:off x="655559" y="7363263"/>
            <a:ext cx="3053100" cy="23700"/>
          </a:xfrm>
          <a:prstGeom prst="straightConnector1">
            <a:avLst/>
          </a:prstGeom>
          <a:noFill/>
          <a:ln w="38100" cap="flat" cmpd="sng">
            <a:solidFill>
              <a:srgbClr val="B31E23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20" name="Google Shape;120;p2"/>
          <p:cNvCxnSpPr/>
          <p:nvPr/>
        </p:nvCxnSpPr>
        <p:spPr>
          <a:xfrm rot="10800000" flipH="1">
            <a:off x="7535210" y="4217689"/>
            <a:ext cx="3516000" cy="19500"/>
          </a:xfrm>
          <a:prstGeom prst="straightConnector1">
            <a:avLst/>
          </a:prstGeom>
          <a:noFill/>
          <a:ln w="38100" cap="flat" cmpd="sng">
            <a:solidFill>
              <a:srgbClr val="B31E23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21" name="Google Shape;121;p2"/>
          <p:cNvCxnSpPr/>
          <p:nvPr/>
        </p:nvCxnSpPr>
        <p:spPr>
          <a:xfrm>
            <a:off x="655559" y="1849151"/>
            <a:ext cx="8927400" cy="2100"/>
          </a:xfrm>
          <a:prstGeom prst="straightConnector1">
            <a:avLst/>
          </a:prstGeom>
          <a:noFill/>
          <a:ln w="38100" cap="flat" cmpd="sng">
            <a:solidFill>
              <a:srgbClr val="B31E23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22" name="Google Shape;122;p2"/>
          <p:cNvSpPr txBox="1"/>
          <p:nvPr/>
        </p:nvSpPr>
        <p:spPr>
          <a:xfrm>
            <a:off x="655551" y="2938544"/>
            <a:ext cx="150474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i="1">
                <a:solidFill>
                  <a:srgbClr val="B31E2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patient in Pune was billed ₹2,200 for a procedure priced at ₹800 under CGHS norms — and had no way to know. </a:t>
            </a:r>
            <a:endParaRPr sz="2200" i="1">
              <a:solidFill>
                <a:srgbClr val="B31E2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3" name="Google Shape;123;p2"/>
          <p:cNvSpPr/>
          <p:nvPr/>
        </p:nvSpPr>
        <p:spPr>
          <a:xfrm>
            <a:off x="4332534" y="5929811"/>
            <a:ext cx="2345700" cy="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3"/>
              <a:buFont typeface="Times New Roman"/>
              <a:buNone/>
            </a:pPr>
            <a:r>
              <a:rPr lang="en-US" sz="2011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Average Overcharge</a:t>
            </a:r>
            <a:endParaRPr sz="2011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4" name="Google Shape;124;p2"/>
          <p:cNvSpPr/>
          <p:nvPr/>
        </p:nvSpPr>
        <p:spPr>
          <a:xfrm>
            <a:off x="6833918" y="8913888"/>
            <a:ext cx="4649100" cy="622800"/>
          </a:xfrm>
          <a:prstGeom prst="rect">
            <a:avLst/>
          </a:prstGeom>
          <a:solidFill>
            <a:schemeClr val="lt1"/>
          </a:solidFill>
          <a:ln w="38100" cap="flat" cmpd="sng">
            <a:solidFill>
              <a:srgbClr val="B31E2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2"/>
          <p:cNvSpPr txBox="1"/>
          <p:nvPr/>
        </p:nvSpPr>
        <p:spPr>
          <a:xfrm>
            <a:off x="6833918" y="8999663"/>
            <a:ext cx="46491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i="1">
                <a:solidFill>
                  <a:srgbClr val="B31E2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 tool exists in India that does thisa Until now. </a:t>
            </a:r>
            <a:endParaRPr sz="1800" i="1">
              <a:solidFill>
                <a:srgbClr val="B31E2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6" name="Google Shape;126;p2"/>
          <p:cNvSpPr txBox="1"/>
          <p:nvPr/>
        </p:nvSpPr>
        <p:spPr>
          <a:xfrm>
            <a:off x="655550" y="7843529"/>
            <a:ext cx="16881900" cy="8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dirty="0" err="1">
                <a:latin typeface="Times New Roman"/>
                <a:ea typeface="Times New Roman"/>
                <a:cs typeface="Times New Roman"/>
                <a:sym typeface="Times New Roman"/>
              </a:rPr>
              <a:t>MedGuard</a:t>
            </a:r>
            <a:r>
              <a:rPr lang="en-US" sz="2200" dirty="0">
                <a:latin typeface="Times New Roman"/>
                <a:ea typeface="Times New Roman"/>
                <a:cs typeface="Times New Roman"/>
                <a:sym typeface="Times New Roman"/>
              </a:rPr>
              <a:t> AI uploads your hospital bill, flags every overcharge against CGHS rates, and auto-generates a legally grounded IRDAI-compliant appeal letter — in under 15 seconds. </a:t>
            </a:r>
            <a:endParaRPr sz="22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6"/>
        </a:solidFill>
        <a:effectLst/>
      </p:bgPr>
    </p:bg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3"/>
          <p:cNvSpPr/>
          <p:nvPr/>
        </p:nvSpPr>
        <p:spPr>
          <a:xfrm>
            <a:off x="-310077" y="-315115"/>
            <a:ext cx="2048372" cy="2048372"/>
          </a:xfrm>
          <a:custGeom>
            <a:avLst/>
            <a:gdLst/>
            <a:ahLst/>
            <a:cxnLst/>
            <a:rect l="l" t="t" r="r" b="b"/>
            <a:pathLst>
              <a:path w="2048372" h="2048372" extrusionOk="0">
                <a:moveTo>
                  <a:pt x="0" y="0"/>
                </a:moveTo>
                <a:lnTo>
                  <a:pt x="2048372" y="0"/>
                </a:lnTo>
                <a:lnTo>
                  <a:pt x="2048372" y="2048372"/>
                </a:lnTo>
                <a:lnTo>
                  <a:pt x="0" y="204837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32" name="Google Shape;132;p3"/>
          <p:cNvSpPr txBox="1"/>
          <p:nvPr/>
        </p:nvSpPr>
        <p:spPr>
          <a:xfrm>
            <a:off x="183275" y="9492860"/>
            <a:ext cx="2979600" cy="60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26" b="1" i="0" u="none" strike="noStrike" cap="none">
                <a:solidFill>
                  <a:srgbClr val="B31E23"/>
                </a:solidFill>
                <a:latin typeface="Arial"/>
                <a:ea typeface="Arial"/>
                <a:cs typeface="Arial"/>
                <a:sym typeface="Arial"/>
              </a:rPr>
              <a:t>NEXUS 2.0</a:t>
            </a:r>
            <a:endParaRPr/>
          </a:p>
        </p:txBody>
      </p:sp>
      <p:sp>
        <p:nvSpPr>
          <p:cNvPr id="133" name="Google Shape;133;p3"/>
          <p:cNvSpPr txBox="1"/>
          <p:nvPr/>
        </p:nvSpPr>
        <p:spPr>
          <a:xfrm>
            <a:off x="17823317" y="9205186"/>
            <a:ext cx="664587" cy="1045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26" b="1" i="0" u="none" strike="noStrike" cap="none">
                <a:solidFill>
                  <a:srgbClr val="B31E23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cxnSp>
        <p:nvCxnSpPr>
          <p:cNvPr id="134" name="Google Shape;134;p3"/>
          <p:cNvCxnSpPr/>
          <p:nvPr/>
        </p:nvCxnSpPr>
        <p:spPr>
          <a:xfrm>
            <a:off x="3612899" y="9951551"/>
            <a:ext cx="13924591" cy="0"/>
          </a:xfrm>
          <a:prstGeom prst="straightConnector1">
            <a:avLst/>
          </a:prstGeom>
          <a:noFill/>
          <a:ln w="38100" cap="flat" cmpd="sng">
            <a:solidFill>
              <a:srgbClr val="B31E23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35" name="Google Shape;135;p3"/>
          <p:cNvSpPr txBox="1"/>
          <p:nvPr/>
        </p:nvSpPr>
        <p:spPr>
          <a:xfrm>
            <a:off x="5262600" y="287475"/>
            <a:ext cx="7762800" cy="7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TECHNICAL APPROACH </a:t>
            </a:r>
            <a:endParaRPr sz="5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6" name="Google Shape;136;p3"/>
          <p:cNvSpPr txBox="1"/>
          <p:nvPr/>
        </p:nvSpPr>
        <p:spPr>
          <a:xfrm>
            <a:off x="14878149" y="286475"/>
            <a:ext cx="3277500" cy="54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3542" b="1">
                <a:solidFill>
                  <a:srgbClr val="B31E2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Neural Nomads</a:t>
            </a:r>
            <a:endParaRPr sz="3542" b="1">
              <a:solidFill>
                <a:srgbClr val="B31E2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137" name="Google Shape;137;p3"/>
          <p:cNvGraphicFramePr/>
          <p:nvPr/>
        </p:nvGraphicFramePr>
        <p:xfrm>
          <a:off x="183263" y="3030727"/>
          <a:ext cx="5990500" cy="4968030"/>
        </p:xfrm>
        <a:graphic>
          <a:graphicData uri="http://schemas.openxmlformats.org/drawingml/2006/table">
            <a:tbl>
              <a:tblPr>
                <a:noFill/>
                <a:tableStyleId>{570F69FB-F8BB-4007-8483-0752D75E864A}</a:tableStyleId>
              </a:tblPr>
              <a:tblGrid>
                <a:gridCol w="2055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35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195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 b="1"/>
                        <a:t>Layer</a:t>
                      </a:r>
                      <a:endParaRPr sz="2200" b="1"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B31E2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B31E2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B31E2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B31E2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 b="1"/>
                        <a:t>Technologies</a:t>
                      </a:r>
                      <a:endParaRPr sz="2200" b="1"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B31E2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B31E2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B31E2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B31E2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347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 b="1"/>
                        <a:t>Frontend</a:t>
                      </a:r>
                      <a:endParaRPr sz="2200" b="1"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B31E2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B31E2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B31E2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B31E2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/>
                        <a:t>Next.js, Tailwind, ShadCN</a:t>
                      </a:r>
                      <a:endParaRPr sz="2200"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B31E2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B31E2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B31E2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B31E2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22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 b="1"/>
                        <a:t>Backend &amp; APIs</a:t>
                      </a:r>
                      <a:endParaRPr sz="2200" b="1"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B31E2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B31E2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B31E2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B31E2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/>
                        <a:t>FastAPI, API Gateway, Celery, Redis</a:t>
                      </a:r>
                      <a:endParaRPr sz="2200"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B31E2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B31E2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B31E2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B31E2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 b="1"/>
                        <a:t>AI Core</a:t>
                      </a:r>
                      <a:endParaRPr sz="2200" b="1"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B31E2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B31E2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B31E2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B31E2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/>
                        <a:t>Whisper, LayoutLMv3, GPT Models</a:t>
                      </a:r>
                      <a:endParaRPr sz="2200"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B31E2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B31E2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B31E2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B31E2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825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 b="1"/>
                        <a:t>Data Layer</a:t>
                      </a:r>
                      <a:endParaRPr sz="2200" b="1"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B31E2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B31E2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B31E2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B31E2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/>
                        <a:t>PostgreSQL, S3, FAISS / Pinecone</a:t>
                      </a:r>
                      <a:endParaRPr sz="2200"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B31E2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B31E2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B31E2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B31E2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 b="1"/>
                        <a:t>Output</a:t>
                      </a:r>
                      <a:endParaRPr sz="2200" b="1"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B31E2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B31E2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B31E2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B31E2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/>
                        <a:t>ReportLab, Jinja2</a:t>
                      </a:r>
                      <a:endParaRPr sz="2200"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B31E2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B31E2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B31E2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B31E2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83875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 b="1"/>
                        <a:t>Infrastructure &amp; DevOps</a:t>
                      </a:r>
                      <a:endParaRPr sz="2200" b="1"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B31E2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B31E2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B31E2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B31E2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/>
                        <a:t>Docker, Vercel, AWS, GitHub Actions, Razorpay</a:t>
                      </a:r>
                      <a:endParaRPr sz="2200"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B31E2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B31E2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B31E2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B31E2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138" name="Google Shape;138;p3"/>
          <p:cNvGraphicFramePr/>
          <p:nvPr/>
        </p:nvGraphicFramePr>
        <p:xfrm>
          <a:off x="152400" y="152400"/>
          <a:ext cx="208250" cy="396210"/>
        </p:xfrm>
        <a:graphic>
          <a:graphicData uri="http://schemas.openxmlformats.org/drawingml/2006/table">
            <a:tbl>
              <a:tblPr>
                <a:noFill/>
                <a:tableStyleId>{570F69FB-F8BB-4007-8483-0752D75E864A}</a:tableStyleId>
              </a:tblPr>
              <a:tblGrid>
                <a:gridCol w="208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39" name="Google Shape;139;p3"/>
          <p:cNvSpPr txBox="1"/>
          <p:nvPr/>
        </p:nvSpPr>
        <p:spPr>
          <a:xfrm>
            <a:off x="152395" y="1884575"/>
            <a:ext cx="37962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Tech Stack Overview:</a:t>
            </a:r>
            <a:endParaRPr sz="300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40" name="Google Shape;140;p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87350" y="2178937"/>
            <a:ext cx="11585393" cy="647156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41" name="Google Shape;141;p3"/>
          <p:cNvCxnSpPr/>
          <p:nvPr/>
        </p:nvCxnSpPr>
        <p:spPr>
          <a:xfrm rot="10800000" flipH="1">
            <a:off x="189874" y="2515507"/>
            <a:ext cx="3704400" cy="3300"/>
          </a:xfrm>
          <a:prstGeom prst="straightConnector1">
            <a:avLst/>
          </a:prstGeom>
          <a:noFill/>
          <a:ln w="38100" cap="flat" cmpd="sng">
            <a:solidFill>
              <a:srgbClr val="B31E23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6"/>
        </a:solidFill>
        <a:effectLst/>
      </p:bgPr>
    </p:bg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4"/>
          <p:cNvSpPr/>
          <p:nvPr/>
        </p:nvSpPr>
        <p:spPr>
          <a:xfrm>
            <a:off x="-408952" y="-408952"/>
            <a:ext cx="2048372" cy="2048372"/>
          </a:xfrm>
          <a:custGeom>
            <a:avLst/>
            <a:gdLst/>
            <a:ahLst/>
            <a:cxnLst/>
            <a:rect l="l" t="t" r="r" b="b"/>
            <a:pathLst>
              <a:path w="2048372" h="2048372" extrusionOk="0">
                <a:moveTo>
                  <a:pt x="0" y="0"/>
                </a:moveTo>
                <a:lnTo>
                  <a:pt x="2048372" y="0"/>
                </a:lnTo>
                <a:lnTo>
                  <a:pt x="2048372" y="2048372"/>
                </a:lnTo>
                <a:lnTo>
                  <a:pt x="0" y="204837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47" name="Google Shape;147;p4"/>
          <p:cNvSpPr txBox="1"/>
          <p:nvPr/>
        </p:nvSpPr>
        <p:spPr>
          <a:xfrm>
            <a:off x="149658" y="9205186"/>
            <a:ext cx="2979523" cy="1045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26" b="1" i="0" u="none" strike="noStrike" cap="none">
                <a:solidFill>
                  <a:srgbClr val="B31E23"/>
                </a:solidFill>
                <a:latin typeface="Arial"/>
                <a:ea typeface="Arial"/>
                <a:cs typeface="Arial"/>
                <a:sym typeface="Arial"/>
              </a:rPr>
              <a:t>NEXUS 2.0</a:t>
            </a:r>
            <a:endParaRPr/>
          </a:p>
        </p:txBody>
      </p:sp>
      <p:sp>
        <p:nvSpPr>
          <p:cNvPr id="148" name="Google Shape;148;p4"/>
          <p:cNvSpPr txBox="1"/>
          <p:nvPr/>
        </p:nvSpPr>
        <p:spPr>
          <a:xfrm>
            <a:off x="17823317" y="9205186"/>
            <a:ext cx="664587" cy="1045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26" b="1" i="0" u="none" strike="noStrike" cap="none">
                <a:solidFill>
                  <a:srgbClr val="B31E23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</p:txBody>
      </p:sp>
      <p:cxnSp>
        <p:nvCxnSpPr>
          <p:cNvPr id="149" name="Google Shape;149;p4"/>
          <p:cNvCxnSpPr/>
          <p:nvPr/>
        </p:nvCxnSpPr>
        <p:spPr>
          <a:xfrm>
            <a:off x="3612899" y="9951551"/>
            <a:ext cx="13924591" cy="0"/>
          </a:xfrm>
          <a:prstGeom prst="straightConnector1">
            <a:avLst/>
          </a:prstGeom>
          <a:noFill/>
          <a:ln w="38100" cap="flat" cmpd="sng">
            <a:solidFill>
              <a:srgbClr val="B31E23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50" name="Google Shape;150;p4"/>
          <p:cNvSpPr txBox="1"/>
          <p:nvPr/>
        </p:nvSpPr>
        <p:spPr>
          <a:xfrm>
            <a:off x="14237075" y="252850"/>
            <a:ext cx="3952200" cy="107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542" b="1">
                <a:solidFill>
                  <a:srgbClr val="B31E2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Neural Nomads</a:t>
            </a:r>
            <a:endParaRPr sz="3542" b="1">
              <a:solidFill>
                <a:srgbClr val="B31E2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40046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442" b="1">
              <a:solidFill>
                <a:srgbClr val="B31E23"/>
              </a:solidFill>
            </a:endParaRPr>
          </a:p>
        </p:txBody>
      </p:sp>
      <p:sp>
        <p:nvSpPr>
          <p:cNvPr id="151" name="Google Shape;151;p4"/>
          <p:cNvSpPr txBox="1"/>
          <p:nvPr/>
        </p:nvSpPr>
        <p:spPr>
          <a:xfrm>
            <a:off x="4416575" y="271148"/>
            <a:ext cx="9454800" cy="7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FEASIBILITY &amp; VIABILITY </a:t>
            </a:r>
            <a:endParaRPr sz="5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2" name="Google Shape;152;p4"/>
          <p:cNvSpPr/>
          <p:nvPr/>
        </p:nvSpPr>
        <p:spPr>
          <a:xfrm>
            <a:off x="6089950" y="8272850"/>
            <a:ext cx="6207600" cy="769500"/>
          </a:xfrm>
          <a:prstGeom prst="rect">
            <a:avLst/>
          </a:prstGeom>
          <a:solidFill>
            <a:schemeClr val="lt1"/>
          </a:solidFill>
          <a:ln w="38100" cap="flat" cmpd="sng">
            <a:solidFill>
              <a:srgbClr val="B31E2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4"/>
          <p:cNvSpPr txBox="1"/>
          <p:nvPr/>
        </p:nvSpPr>
        <p:spPr>
          <a:xfrm>
            <a:off x="500968" y="1601525"/>
            <a:ext cx="2638800" cy="8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Feasibility: </a:t>
            </a:r>
            <a:endParaRPr sz="4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4" name="Google Shape;154;p4"/>
          <p:cNvSpPr txBox="1"/>
          <p:nvPr/>
        </p:nvSpPr>
        <p:spPr>
          <a:xfrm>
            <a:off x="9770688" y="1558325"/>
            <a:ext cx="2260200" cy="8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Viability: </a:t>
            </a:r>
            <a:endParaRPr sz="4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5" name="Google Shape;155;p4"/>
          <p:cNvSpPr txBox="1"/>
          <p:nvPr/>
        </p:nvSpPr>
        <p:spPr>
          <a:xfrm>
            <a:off x="5507525" y="8064076"/>
            <a:ext cx="7272900" cy="8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2200" b="1" i="1" dirty="0">
                <a:solidFill>
                  <a:srgbClr val="B31E2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Built on public government data. Cloud-native. Zero dependency on proprietary hospital systems. </a:t>
            </a:r>
            <a:endParaRPr sz="2200" i="1" dirty="0">
              <a:solidFill>
                <a:srgbClr val="B31E2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156" name="Google Shape;156;p4"/>
          <p:cNvGraphicFramePr/>
          <p:nvPr/>
        </p:nvGraphicFramePr>
        <p:xfrm>
          <a:off x="9770688" y="2577625"/>
          <a:ext cx="8115850" cy="5170311"/>
        </p:xfrm>
        <a:graphic>
          <a:graphicData uri="http://schemas.openxmlformats.org/drawingml/2006/table">
            <a:tbl>
              <a:tblPr>
                <a:noFill/>
                <a:tableStyleId>{570F69FB-F8BB-4007-8483-0752D75E864A}</a:tableStyleId>
              </a:tblPr>
              <a:tblGrid>
                <a:gridCol w="3331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84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905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Aspect</a:t>
                      </a:r>
                      <a:endParaRPr sz="22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B31E2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B31E2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B31E2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B31E2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Key Points</a:t>
                      </a:r>
                      <a:endParaRPr sz="22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B31E2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B31E2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B31E2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B31E2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17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Market Opportunity</a:t>
                      </a:r>
                      <a:endParaRPr sz="22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B31E2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B31E2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B31E2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B31E2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50Cr </a:t>
                      </a:r>
                      <a:r>
                        <a:rPr lang="en-US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insured, </a:t>
                      </a:r>
                      <a:r>
                        <a:rPr lang="en-US" sz="22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8M </a:t>
                      </a:r>
                      <a:r>
                        <a:rPr lang="en-US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denials, </a:t>
                      </a:r>
                      <a:r>
                        <a:rPr lang="en-US" sz="22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67% </a:t>
                      </a:r>
                      <a:r>
                        <a:rPr lang="en-US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unchallenged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B31E2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B31E2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B31E2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B31E2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2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Revenue Model</a:t>
                      </a:r>
                      <a:endParaRPr sz="22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B31E2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B31E2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B31E2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B31E2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₹99/appeal </a:t>
                      </a:r>
                      <a:r>
                        <a:rPr lang="en-US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SaaS + API integrations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B31E2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B31E2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B31E2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B31E2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2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User Value Proposition</a:t>
                      </a:r>
                      <a:endParaRPr sz="22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B31E2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B31E2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B31E2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B31E2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₹8K–₹15K </a:t>
                      </a:r>
                      <a:r>
                        <a:rPr lang="en-US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savings per bill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B31E2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B31E2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B31E2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B31E2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2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Market Capture Potential</a:t>
                      </a:r>
                      <a:endParaRPr sz="22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B31E2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B31E2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B31E2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B31E2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Even </a:t>
                      </a:r>
                      <a:r>
                        <a:rPr lang="en-US" sz="22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0.1% → 5K+ </a:t>
                      </a:r>
                      <a:r>
                        <a:rPr lang="en-US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cases/year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B31E2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B31E2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B31E2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B31E2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917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Competitive Advantage</a:t>
                      </a:r>
                      <a:endParaRPr sz="22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B31E2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B31E2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B31E2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B31E2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CGHS + IRDAI + Hinglish + automated appeals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B31E2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B31E2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B31E2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B31E2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917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Scalability &amp; Expansion</a:t>
                      </a:r>
                      <a:endParaRPr sz="22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B31E2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B31E2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B31E2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B31E2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Fraud detection, compliance, claims automation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B31E2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B31E2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B31E2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B31E2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02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Sustainability</a:t>
                      </a:r>
                      <a:endParaRPr sz="22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B31E2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B31E2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B31E2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B31E2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Periodic IRDAI + CGHS updates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B31E2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B31E2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B31E2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B31E2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cxnSp>
        <p:nvCxnSpPr>
          <p:cNvPr id="157" name="Google Shape;157;p4"/>
          <p:cNvCxnSpPr/>
          <p:nvPr/>
        </p:nvCxnSpPr>
        <p:spPr>
          <a:xfrm rot="10800000" flipH="1">
            <a:off x="500986" y="2346214"/>
            <a:ext cx="2629800" cy="2700"/>
          </a:xfrm>
          <a:prstGeom prst="straightConnector1">
            <a:avLst/>
          </a:prstGeom>
          <a:noFill/>
          <a:ln w="38100" cap="flat" cmpd="sng">
            <a:solidFill>
              <a:srgbClr val="B31E23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58" name="Google Shape;158;p4"/>
          <p:cNvCxnSpPr/>
          <p:nvPr/>
        </p:nvCxnSpPr>
        <p:spPr>
          <a:xfrm>
            <a:off x="9770687" y="2305160"/>
            <a:ext cx="2251200" cy="13800"/>
          </a:xfrm>
          <a:prstGeom prst="straightConnector1">
            <a:avLst/>
          </a:prstGeom>
          <a:noFill/>
          <a:ln w="38100" cap="flat" cmpd="sng">
            <a:solidFill>
              <a:srgbClr val="B31E23"/>
            </a:solidFill>
            <a:prstDash val="solid"/>
            <a:round/>
            <a:headEnd type="none" w="sm" len="sm"/>
            <a:tailEnd type="none" w="sm" len="sm"/>
          </a:ln>
        </p:spPr>
      </p:cxnSp>
      <p:graphicFrame>
        <p:nvGraphicFramePr>
          <p:cNvPr id="159" name="Google Shape;159;p4"/>
          <p:cNvGraphicFramePr/>
          <p:nvPr/>
        </p:nvGraphicFramePr>
        <p:xfrm>
          <a:off x="500958" y="2639898"/>
          <a:ext cx="8758350" cy="5115275"/>
        </p:xfrm>
        <a:graphic>
          <a:graphicData uri="http://schemas.openxmlformats.org/drawingml/2006/table">
            <a:tbl>
              <a:tblPr>
                <a:noFill/>
                <a:tableStyleId>{570F69FB-F8BB-4007-8483-0752D75E864A}</a:tableStyleId>
              </a:tblPr>
              <a:tblGrid>
                <a:gridCol w="30311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271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3212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Aspect</a:t>
                      </a:r>
                      <a:endParaRPr sz="22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B31E2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B31E2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B31E2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B31E2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Key Points</a:t>
                      </a:r>
                      <a:endParaRPr sz="22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B31E2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B31E2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B31E2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B31E2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757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Proven Technology Stack</a:t>
                      </a:r>
                      <a:endParaRPr sz="22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B31E2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B31E2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B31E2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B31E2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Whisper, LayoutLMv3, GPT — production- ready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B31E2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B31E2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B31E2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B31E2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757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Data Availability</a:t>
                      </a:r>
                      <a:endParaRPr sz="22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B31E2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B31E2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B31E2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B31E2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CGHS rates + IRDAI regulations (public, updatable)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B31E2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B31E2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B31E2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B31E2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757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Build Status </a:t>
                      </a:r>
                      <a:endParaRPr sz="22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B31E2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B31E2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B31E2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B31E2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AdvocAI appeal pipeline live — ClaimShield layer in active development 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B31E2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B31E2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B31E2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B31E2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757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Processing Performance</a:t>
                      </a:r>
                      <a:endParaRPr sz="22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B31E2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B31E2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B31E2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B31E2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~15s processing</a:t>
                      </a:r>
                      <a:r>
                        <a:rPr lang="en-US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, cloud-native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B31E2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B31E2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B31E2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B31E2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21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System Accessibility</a:t>
                      </a:r>
                      <a:endParaRPr sz="22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B31E2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B31E2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B31E2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B31E2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PDFs, images, Hinglish voice input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B31E2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B31E2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B31E2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B31E2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79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Risk &amp; Mitigation</a:t>
                      </a:r>
                      <a:endParaRPr sz="22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B31E2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B31E2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B31E2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B31E2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Extend CGHS with NABH/private benchmarks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B31E2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B31E2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B31E2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B31E2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60" name="Google Shape;160;p4"/>
          <p:cNvSpPr txBox="1"/>
          <p:nvPr/>
        </p:nvSpPr>
        <p:spPr>
          <a:xfrm>
            <a:off x="5762375" y="9152513"/>
            <a:ext cx="67632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B31E2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Phase 1 live: May 2, 2026 | GitHub: </a:t>
            </a:r>
            <a:r>
              <a:rPr lang="en-US" sz="1800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4"/>
              </a:rPr>
              <a:t>github.com/Viraj281105/Advocai</a:t>
            </a:r>
            <a:endParaRPr sz="1800">
              <a:solidFill>
                <a:srgbClr val="B31E2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6"/>
        </a:solidFill>
        <a:effectLst/>
      </p:bgPr>
    </p:bg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5"/>
          <p:cNvSpPr/>
          <p:nvPr/>
        </p:nvSpPr>
        <p:spPr>
          <a:xfrm>
            <a:off x="9395471" y="4858595"/>
            <a:ext cx="7897200" cy="1493100"/>
          </a:xfrm>
          <a:prstGeom prst="rect">
            <a:avLst/>
          </a:prstGeom>
          <a:solidFill>
            <a:schemeClr val="lt1"/>
          </a:solidFill>
          <a:ln w="38100" cap="flat" cmpd="sng">
            <a:solidFill>
              <a:srgbClr val="B31E2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5"/>
          <p:cNvSpPr/>
          <p:nvPr/>
        </p:nvSpPr>
        <p:spPr>
          <a:xfrm>
            <a:off x="-408952" y="-426052"/>
            <a:ext cx="2048372" cy="2048372"/>
          </a:xfrm>
          <a:custGeom>
            <a:avLst/>
            <a:gdLst/>
            <a:ahLst/>
            <a:cxnLst/>
            <a:rect l="l" t="t" r="r" b="b"/>
            <a:pathLst>
              <a:path w="2048372" h="2048372" extrusionOk="0">
                <a:moveTo>
                  <a:pt x="0" y="0"/>
                </a:moveTo>
                <a:lnTo>
                  <a:pt x="2048372" y="0"/>
                </a:lnTo>
                <a:lnTo>
                  <a:pt x="2048372" y="2048372"/>
                </a:lnTo>
                <a:lnTo>
                  <a:pt x="0" y="204837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67" name="Google Shape;167;p5"/>
          <p:cNvSpPr txBox="1"/>
          <p:nvPr/>
        </p:nvSpPr>
        <p:spPr>
          <a:xfrm>
            <a:off x="149658" y="9205186"/>
            <a:ext cx="2979600" cy="104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26" b="1" i="0" u="none" strike="noStrike" cap="none">
                <a:solidFill>
                  <a:srgbClr val="B31E23"/>
                </a:solidFill>
                <a:latin typeface="Arial"/>
                <a:ea typeface="Arial"/>
                <a:cs typeface="Arial"/>
                <a:sym typeface="Arial"/>
              </a:rPr>
              <a:t>NEXUS 2.0</a:t>
            </a:r>
            <a:endParaRPr/>
          </a:p>
        </p:txBody>
      </p:sp>
      <p:sp>
        <p:nvSpPr>
          <p:cNvPr id="168" name="Google Shape;168;p5"/>
          <p:cNvSpPr txBox="1"/>
          <p:nvPr/>
        </p:nvSpPr>
        <p:spPr>
          <a:xfrm>
            <a:off x="17823317" y="9205186"/>
            <a:ext cx="664587" cy="1045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26" b="1" i="0" u="none" strike="noStrike" cap="none">
                <a:solidFill>
                  <a:srgbClr val="B31E23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/>
          </a:p>
        </p:txBody>
      </p:sp>
      <p:sp>
        <p:nvSpPr>
          <p:cNvPr id="169" name="Google Shape;169;p5"/>
          <p:cNvSpPr/>
          <p:nvPr/>
        </p:nvSpPr>
        <p:spPr>
          <a:xfrm>
            <a:off x="767038" y="4855416"/>
            <a:ext cx="7897200" cy="1493100"/>
          </a:xfrm>
          <a:prstGeom prst="rect">
            <a:avLst/>
          </a:prstGeom>
          <a:solidFill>
            <a:schemeClr val="lt1"/>
          </a:solidFill>
          <a:ln w="38100" cap="flat" cmpd="sng">
            <a:solidFill>
              <a:srgbClr val="B31E2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0" name="Google Shape;170;p5"/>
          <p:cNvCxnSpPr/>
          <p:nvPr/>
        </p:nvCxnSpPr>
        <p:spPr>
          <a:xfrm>
            <a:off x="3612899" y="9951551"/>
            <a:ext cx="13924591" cy="0"/>
          </a:xfrm>
          <a:prstGeom prst="straightConnector1">
            <a:avLst/>
          </a:prstGeom>
          <a:noFill/>
          <a:ln w="38100" cap="flat" cmpd="sng">
            <a:solidFill>
              <a:srgbClr val="B31E23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71" name="Google Shape;171;p5"/>
          <p:cNvSpPr txBox="1"/>
          <p:nvPr/>
        </p:nvSpPr>
        <p:spPr>
          <a:xfrm>
            <a:off x="14033850" y="286475"/>
            <a:ext cx="4121700" cy="107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542" b="1">
                <a:solidFill>
                  <a:srgbClr val="B31E2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Neural Nomads</a:t>
            </a:r>
            <a:endParaRPr sz="3542" b="1">
              <a:solidFill>
                <a:srgbClr val="B31E2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40046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442" b="1">
              <a:solidFill>
                <a:srgbClr val="B31E23"/>
              </a:solidFill>
            </a:endParaRPr>
          </a:p>
        </p:txBody>
      </p:sp>
      <p:sp>
        <p:nvSpPr>
          <p:cNvPr id="172" name="Google Shape;172;p5"/>
          <p:cNvSpPr txBox="1"/>
          <p:nvPr/>
        </p:nvSpPr>
        <p:spPr>
          <a:xfrm>
            <a:off x="5654475" y="225150"/>
            <a:ext cx="6620100" cy="7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IMPACT &amp; BENEFITS</a:t>
            </a:r>
            <a:endParaRPr sz="5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3" name="Google Shape;173;p5"/>
          <p:cNvSpPr/>
          <p:nvPr/>
        </p:nvSpPr>
        <p:spPr>
          <a:xfrm>
            <a:off x="540075" y="1199475"/>
            <a:ext cx="14846400" cy="92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4444"/>
              </a:lnSpc>
              <a:spcBef>
                <a:spcPts val="0"/>
              </a:spcBef>
              <a:spcAft>
                <a:spcPts val="0"/>
              </a:spcAft>
              <a:buClr>
                <a:srgbClr val="2E3C4E"/>
              </a:buClr>
              <a:buSzPts val="2250"/>
              <a:buFont typeface="Barlow"/>
              <a:buNone/>
            </a:pPr>
            <a:r>
              <a:rPr lang="en-US" sz="40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Transforming Healthcare Financial Protection</a:t>
            </a:r>
            <a:endParaRPr sz="400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4" name="Google Shape;174;p5"/>
          <p:cNvSpPr/>
          <p:nvPr/>
        </p:nvSpPr>
        <p:spPr>
          <a:xfrm>
            <a:off x="767050" y="7211642"/>
            <a:ext cx="7897200" cy="1427400"/>
          </a:xfrm>
          <a:prstGeom prst="rect">
            <a:avLst/>
          </a:prstGeom>
          <a:solidFill>
            <a:schemeClr val="lt1"/>
          </a:solidFill>
          <a:ln w="38100" cap="flat" cmpd="sng">
            <a:solidFill>
              <a:srgbClr val="B31E2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5"/>
          <p:cNvSpPr/>
          <p:nvPr/>
        </p:nvSpPr>
        <p:spPr>
          <a:xfrm>
            <a:off x="540075" y="2000092"/>
            <a:ext cx="6510900" cy="4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925"/>
              </a:lnSpc>
              <a:spcBef>
                <a:spcPts val="0"/>
              </a:spcBef>
              <a:spcAft>
                <a:spcPts val="0"/>
              </a:spcAft>
              <a:buClr>
                <a:srgbClr val="2E3C4E"/>
              </a:buClr>
              <a:buSzPts val="1350"/>
              <a:buFont typeface="Barlow"/>
              <a:buNone/>
            </a:pPr>
            <a:r>
              <a:rPr lang="en-US" sz="30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What changes for 50 crore Indians:</a:t>
            </a:r>
            <a:endParaRPr sz="300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6" name="Google Shape;176;p5"/>
          <p:cNvSpPr/>
          <p:nvPr/>
        </p:nvSpPr>
        <p:spPr>
          <a:xfrm>
            <a:off x="540075" y="2507182"/>
            <a:ext cx="17087100" cy="92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3529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850"/>
              <a:buFont typeface="Montserrat"/>
              <a:buNone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MedGuard AI bridges the gap between complex healthcare billing and patient financial protection—enabling fast, accurate, and accessible recovery of unjustified charges.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23529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850"/>
              <a:buFont typeface="Montserrat"/>
              <a:buNone/>
            </a:pP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7" name="Google Shape;177;p5"/>
          <p:cNvSpPr/>
          <p:nvPr/>
        </p:nvSpPr>
        <p:spPr>
          <a:xfrm>
            <a:off x="733278" y="4319153"/>
            <a:ext cx="7964700" cy="244500"/>
          </a:xfrm>
          <a:prstGeom prst="roundRect">
            <a:avLst>
              <a:gd name="adj" fmla="val 150125"/>
            </a:avLst>
          </a:prstGeom>
          <a:solidFill>
            <a:srgbClr val="B31E23"/>
          </a:solidFill>
          <a:ln w="9525" cap="flat" cmpd="sng">
            <a:solidFill>
              <a:srgbClr val="B31E2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8" name="Google Shape;178;p5"/>
          <p:cNvSpPr/>
          <p:nvPr/>
        </p:nvSpPr>
        <p:spPr>
          <a:xfrm>
            <a:off x="529888" y="4074580"/>
            <a:ext cx="406800" cy="732900"/>
          </a:xfrm>
          <a:prstGeom prst="roundRect">
            <a:avLst>
              <a:gd name="adj" fmla="val 138879"/>
            </a:avLst>
          </a:prstGeom>
          <a:solidFill>
            <a:srgbClr val="B31E23"/>
          </a:solidFill>
          <a:ln w="9525" cap="flat" cmpd="sng">
            <a:solidFill>
              <a:srgbClr val="B31E2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" name="Google Shape;179;p5"/>
          <p:cNvSpPr/>
          <p:nvPr/>
        </p:nvSpPr>
        <p:spPr>
          <a:xfrm>
            <a:off x="882988" y="4937478"/>
            <a:ext cx="2979600" cy="4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7272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1100"/>
              <a:buFont typeface="Barlow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Accessibility First</a:t>
            </a:r>
            <a:endParaRPr sz="240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0" name="Google Shape;180;p5"/>
          <p:cNvSpPr/>
          <p:nvPr/>
        </p:nvSpPr>
        <p:spPr>
          <a:xfrm>
            <a:off x="935387" y="5424216"/>
            <a:ext cx="7538400" cy="73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850"/>
              <a:buFont typeface="Montserrat"/>
              <a:buNone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Hinglish voice input + English/Hindi text — covers 600M+ Hindi speakers with zero technical barrier 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1" name="Google Shape;181;p5"/>
          <p:cNvSpPr/>
          <p:nvPr/>
        </p:nvSpPr>
        <p:spPr>
          <a:xfrm>
            <a:off x="9414226" y="4320380"/>
            <a:ext cx="7964700" cy="244500"/>
          </a:xfrm>
          <a:prstGeom prst="roundRect">
            <a:avLst>
              <a:gd name="adj" fmla="val 150125"/>
            </a:avLst>
          </a:prstGeom>
          <a:solidFill>
            <a:srgbClr val="B31E23"/>
          </a:solidFill>
          <a:ln w="9525" cap="flat" cmpd="sng">
            <a:solidFill>
              <a:srgbClr val="B31E2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2" name="Google Shape;182;p5"/>
          <p:cNvSpPr/>
          <p:nvPr/>
        </p:nvSpPr>
        <p:spPr>
          <a:xfrm>
            <a:off x="9210836" y="4075807"/>
            <a:ext cx="406800" cy="732900"/>
          </a:xfrm>
          <a:prstGeom prst="roundRect">
            <a:avLst>
              <a:gd name="adj" fmla="val 138879"/>
            </a:avLst>
          </a:prstGeom>
          <a:solidFill>
            <a:srgbClr val="B31E23"/>
          </a:solidFill>
          <a:ln w="9525" cap="flat" cmpd="sng">
            <a:solidFill>
              <a:srgbClr val="B31E2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3" name="Google Shape;183;p5"/>
          <p:cNvSpPr/>
          <p:nvPr/>
        </p:nvSpPr>
        <p:spPr>
          <a:xfrm>
            <a:off x="9540143" y="4917007"/>
            <a:ext cx="4121700" cy="4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7272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1100"/>
              <a:buFont typeface="Barlow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Accuracy Through AI</a:t>
            </a:r>
            <a:endParaRPr sz="240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4" name="Google Shape;184;p5"/>
          <p:cNvSpPr/>
          <p:nvPr/>
        </p:nvSpPr>
        <p:spPr>
          <a:xfrm>
            <a:off x="9540146" y="5412840"/>
            <a:ext cx="7658400" cy="92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850"/>
              <a:buFont typeface="Montserrat"/>
              <a:buNone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87%+ confidence scoring on every flagged overcharge — not just a flag, but a probability </a:t>
            </a:r>
            <a:endParaRPr sz="240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5" name="Google Shape;185;p5"/>
          <p:cNvSpPr/>
          <p:nvPr/>
        </p:nvSpPr>
        <p:spPr>
          <a:xfrm>
            <a:off x="733278" y="6655499"/>
            <a:ext cx="7964700" cy="244500"/>
          </a:xfrm>
          <a:prstGeom prst="roundRect">
            <a:avLst>
              <a:gd name="adj" fmla="val 150125"/>
            </a:avLst>
          </a:prstGeom>
          <a:solidFill>
            <a:srgbClr val="B31E23"/>
          </a:solidFill>
          <a:ln w="9525" cap="flat" cmpd="sng">
            <a:solidFill>
              <a:srgbClr val="B31E2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6" name="Google Shape;186;p5"/>
          <p:cNvSpPr/>
          <p:nvPr/>
        </p:nvSpPr>
        <p:spPr>
          <a:xfrm>
            <a:off x="529888" y="6410925"/>
            <a:ext cx="406800" cy="732900"/>
          </a:xfrm>
          <a:prstGeom prst="roundRect">
            <a:avLst>
              <a:gd name="adj" fmla="val 138879"/>
            </a:avLst>
          </a:prstGeom>
          <a:solidFill>
            <a:srgbClr val="B31E23"/>
          </a:solidFill>
          <a:ln w="9525" cap="flat" cmpd="sng">
            <a:solidFill>
              <a:srgbClr val="B31E2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7" name="Google Shape;187;p5"/>
          <p:cNvSpPr/>
          <p:nvPr/>
        </p:nvSpPr>
        <p:spPr>
          <a:xfrm>
            <a:off x="9395475" y="7195367"/>
            <a:ext cx="7897200" cy="1427400"/>
          </a:xfrm>
          <a:prstGeom prst="rect">
            <a:avLst/>
          </a:prstGeom>
          <a:solidFill>
            <a:schemeClr val="lt1"/>
          </a:solidFill>
          <a:ln w="38100" cap="flat" cmpd="sng">
            <a:solidFill>
              <a:srgbClr val="B31E2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5"/>
          <p:cNvSpPr/>
          <p:nvPr/>
        </p:nvSpPr>
        <p:spPr>
          <a:xfrm>
            <a:off x="882995" y="7294960"/>
            <a:ext cx="4121700" cy="4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7272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1100"/>
              <a:buFont typeface="Barlow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Speed at Scale</a:t>
            </a:r>
            <a:endParaRPr sz="240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9" name="Google Shape;189;p5"/>
          <p:cNvSpPr/>
          <p:nvPr/>
        </p:nvSpPr>
        <p:spPr>
          <a:xfrm>
            <a:off x="868625" y="7844681"/>
            <a:ext cx="7538400" cy="7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850"/>
              <a:buFont typeface="Montserrat"/>
              <a:buNone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~15s processing vs hours/days → instant actionable insights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850"/>
              <a:buFont typeface="Montserrat"/>
              <a:buNone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vs. 3–7 days with a medical lawyer costing ₹3,000–₹8,000 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0" name="Google Shape;190;p5"/>
          <p:cNvSpPr/>
          <p:nvPr/>
        </p:nvSpPr>
        <p:spPr>
          <a:xfrm>
            <a:off x="9434464" y="6657948"/>
            <a:ext cx="7964700" cy="244500"/>
          </a:xfrm>
          <a:prstGeom prst="roundRect">
            <a:avLst>
              <a:gd name="adj" fmla="val 150125"/>
            </a:avLst>
          </a:prstGeom>
          <a:solidFill>
            <a:srgbClr val="B31E23"/>
          </a:solidFill>
          <a:ln w="9525" cap="flat" cmpd="sng">
            <a:solidFill>
              <a:srgbClr val="B31E2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1" name="Google Shape;191;p5"/>
          <p:cNvSpPr/>
          <p:nvPr/>
        </p:nvSpPr>
        <p:spPr>
          <a:xfrm>
            <a:off x="9231074" y="6413372"/>
            <a:ext cx="406800" cy="732900"/>
          </a:xfrm>
          <a:prstGeom prst="roundRect">
            <a:avLst>
              <a:gd name="adj" fmla="val 138879"/>
            </a:avLst>
          </a:prstGeom>
          <a:solidFill>
            <a:srgbClr val="B31E23"/>
          </a:solidFill>
          <a:ln w="9525" cap="flat" cmpd="sng">
            <a:solidFill>
              <a:srgbClr val="B31E2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" name="Google Shape;192;p5"/>
          <p:cNvSpPr/>
          <p:nvPr/>
        </p:nvSpPr>
        <p:spPr>
          <a:xfrm>
            <a:off x="9525673" y="7282547"/>
            <a:ext cx="4603800" cy="4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7272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1100"/>
              <a:buFont typeface="Barlow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Savings Visibility</a:t>
            </a:r>
            <a:endParaRPr sz="240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3" name="Google Shape;193;p5"/>
          <p:cNvSpPr/>
          <p:nvPr/>
        </p:nvSpPr>
        <p:spPr>
          <a:xfrm>
            <a:off x="9525675" y="7899507"/>
            <a:ext cx="7538400" cy="73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850"/>
              <a:buFont typeface="Montserrat"/>
              <a:buNone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Average ₹12,400 potential recovery surfaced per bill — shown instantly, not buried in a report </a:t>
            </a:r>
            <a:endParaRPr sz="240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4" name="Google Shape;194;p5"/>
          <p:cNvSpPr txBox="1"/>
          <p:nvPr/>
        </p:nvSpPr>
        <p:spPr>
          <a:xfrm>
            <a:off x="529888" y="4233285"/>
            <a:ext cx="406800" cy="415500"/>
          </a:xfrm>
          <a:prstGeom prst="rect">
            <a:avLst/>
          </a:prstGeom>
          <a:solidFill>
            <a:srgbClr val="B31E23"/>
          </a:solidFill>
          <a:ln w="9525" cap="flat" cmpd="sng">
            <a:solidFill>
              <a:srgbClr val="B31E2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</a:t>
            </a:r>
            <a:endParaRPr sz="1500" b="1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5" name="Google Shape;195;p5"/>
          <p:cNvSpPr txBox="1"/>
          <p:nvPr/>
        </p:nvSpPr>
        <p:spPr>
          <a:xfrm>
            <a:off x="9210838" y="4231860"/>
            <a:ext cx="406800" cy="415500"/>
          </a:xfrm>
          <a:prstGeom prst="rect">
            <a:avLst/>
          </a:prstGeom>
          <a:solidFill>
            <a:srgbClr val="B31E23"/>
          </a:solidFill>
          <a:ln w="9525" cap="flat" cmpd="sng">
            <a:solidFill>
              <a:srgbClr val="B31E2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</a:t>
            </a:r>
            <a:endParaRPr sz="1500" b="1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6" name="Google Shape;196;p5"/>
          <p:cNvSpPr/>
          <p:nvPr/>
        </p:nvSpPr>
        <p:spPr>
          <a:xfrm>
            <a:off x="5654325" y="8907275"/>
            <a:ext cx="6620100" cy="543300"/>
          </a:xfrm>
          <a:prstGeom prst="rect">
            <a:avLst/>
          </a:prstGeom>
          <a:solidFill>
            <a:schemeClr val="lt1"/>
          </a:solidFill>
          <a:ln w="38100" cap="flat" cmpd="sng">
            <a:solidFill>
              <a:srgbClr val="B31E2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5"/>
          <p:cNvSpPr txBox="1"/>
          <p:nvPr/>
        </p:nvSpPr>
        <p:spPr>
          <a:xfrm>
            <a:off x="529888" y="6579570"/>
            <a:ext cx="406800" cy="415500"/>
          </a:xfrm>
          <a:prstGeom prst="rect">
            <a:avLst/>
          </a:prstGeom>
          <a:solidFill>
            <a:srgbClr val="B31E23"/>
          </a:solidFill>
          <a:ln w="9525" cap="flat" cmpd="sng">
            <a:solidFill>
              <a:srgbClr val="B31E2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3.</a:t>
            </a:r>
            <a:endParaRPr sz="1500" b="1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8" name="Google Shape;198;p5"/>
          <p:cNvSpPr txBox="1"/>
          <p:nvPr/>
        </p:nvSpPr>
        <p:spPr>
          <a:xfrm>
            <a:off x="9231076" y="6567695"/>
            <a:ext cx="406800" cy="415500"/>
          </a:xfrm>
          <a:prstGeom prst="rect">
            <a:avLst/>
          </a:prstGeom>
          <a:solidFill>
            <a:srgbClr val="B31E23"/>
          </a:solidFill>
          <a:ln w="9525" cap="flat" cmpd="sng">
            <a:solidFill>
              <a:srgbClr val="B31E2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4.</a:t>
            </a:r>
            <a:endParaRPr sz="1500" b="1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9" name="Google Shape;199;p5"/>
          <p:cNvSpPr/>
          <p:nvPr/>
        </p:nvSpPr>
        <p:spPr>
          <a:xfrm>
            <a:off x="4767375" y="3474947"/>
            <a:ext cx="8331300" cy="543300"/>
          </a:xfrm>
          <a:prstGeom prst="rect">
            <a:avLst/>
          </a:prstGeom>
          <a:solidFill>
            <a:schemeClr val="lt1"/>
          </a:solidFill>
          <a:ln w="38100" cap="flat" cmpd="sng">
            <a:solidFill>
              <a:srgbClr val="B31E2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5"/>
          <p:cNvSpPr txBox="1"/>
          <p:nvPr/>
        </p:nvSpPr>
        <p:spPr>
          <a:xfrm>
            <a:off x="5135325" y="8933904"/>
            <a:ext cx="76584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1" dirty="0">
                <a:solidFill>
                  <a:srgbClr val="B31E2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67% of patients never appeal. </a:t>
            </a:r>
            <a:r>
              <a:rPr lang="en-US" sz="1800" b="1" i="1" dirty="0" err="1">
                <a:solidFill>
                  <a:srgbClr val="B31E2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MedGuard</a:t>
            </a:r>
            <a:r>
              <a:rPr lang="en-US" sz="1800" b="1" i="1" dirty="0">
                <a:solidFill>
                  <a:srgbClr val="B31E2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AI makes that number zero. </a:t>
            </a:r>
            <a:endParaRPr sz="1800" b="1" i="1" dirty="0">
              <a:solidFill>
                <a:srgbClr val="B31E2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201" name="Google Shape;201;p5"/>
          <p:cNvCxnSpPr/>
          <p:nvPr/>
        </p:nvCxnSpPr>
        <p:spPr>
          <a:xfrm rot="10800000" flipH="1">
            <a:off x="548952" y="1962109"/>
            <a:ext cx="10098900" cy="2400"/>
          </a:xfrm>
          <a:prstGeom prst="straightConnector1">
            <a:avLst/>
          </a:prstGeom>
          <a:noFill/>
          <a:ln w="38100" cap="flat" cmpd="sng">
            <a:solidFill>
              <a:srgbClr val="B31E23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02" name="Google Shape;202;p5"/>
          <p:cNvSpPr txBox="1"/>
          <p:nvPr/>
        </p:nvSpPr>
        <p:spPr>
          <a:xfrm>
            <a:off x="4767375" y="3499841"/>
            <a:ext cx="83943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i="1">
                <a:solidFill>
                  <a:srgbClr val="B31E2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⏱ 15 seconds. From raw hospital bill to legally grounded appeal letter.</a:t>
            </a:r>
            <a:endParaRPr sz="2200" i="1">
              <a:solidFill>
                <a:srgbClr val="B31E2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6"/>
        </a:solidFill>
        <a:effectLst/>
      </p:bgPr>
    </p:bg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6"/>
          <p:cNvSpPr/>
          <p:nvPr/>
        </p:nvSpPr>
        <p:spPr>
          <a:xfrm>
            <a:off x="-408952" y="-408952"/>
            <a:ext cx="2048372" cy="2048372"/>
          </a:xfrm>
          <a:custGeom>
            <a:avLst/>
            <a:gdLst/>
            <a:ahLst/>
            <a:cxnLst/>
            <a:rect l="l" t="t" r="r" b="b"/>
            <a:pathLst>
              <a:path w="2048372" h="2048372" extrusionOk="0">
                <a:moveTo>
                  <a:pt x="0" y="0"/>
                </a:moveTo>
                <a:lnTo>
                  <a:pt x="2048372" y="0"/>
                </a:lnTo>
                <a:lnTo>
                  <a:pt x="2048372" y="2048372"/>
                </a:lnTo>
                <a:lnTo>
                  <a:pt x="0" y="204837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208" name="Google Shape;208;p6"/>
          <p:cNvSpPr txBox="1"/>
          <p:nvPr/>
        </p:nvSpPr>
        <p:spPr>
          <a:xfrm>
            <a:off x="113025" y="9649453"/>
            <a:ext cx="2979600" cy="60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26" b="1" i="0" u="none" strike="noStrike" cap="none">
                <a:solidFill>
                  <a:srgbClr val="B31E23"/>
                </a:solidFill>
                <a:latin typeface="Arial"/>
                <a:ea typeface="Arial"/>
                <a:cs typeface="Arial"/>
                <a:sym typeface="Arial"/>
              </a:rPr>
              <a:t>NEXUS 2.0</a:t>
            </a:r>
            <a:endParaRPr/>
          </a:p>
        </p:txBody>
      </p:sp>
      <p:sp>
        <p:nvSpPr>
          <p:cNvPr id="209" name="Google Shape;209;p6"/>
          <p:cNvSpPr txBox="1"/>
          <p:nvPr/>
        </p:nvSpPr>
        <p:spPr>
          <a:xfrm>
            <a:off x="17823317" y="9205186"/>
            <a:ext cx="664587" cy="1045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26" b="1" i="0" u="none" strike="noStrike" cap="none">
                <a:solidFill>
                  <a:srgbClr val="B31E23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/>
          </a:p>
        </p:txBody>
      </p:sp>
      <p:cxnSp>
        <p:nvCxnSpPr>
          <p:cNvPr id="210" name="Google Shape;210;p6"/>
          <p:cNvCxnSpPr/>
          <p:nvPr/>
        </p:nvCxnSpPr>
        <p:spPr>
          <a:xfrm>
            <a:off x="3612899" y="9951551"/>
            <a:ext cx="13924591" cy="0"/>
          </a:xfrm>
          <a:prstGeom prst="straightConnector1">
            <a:avLst/>
          </a:prstGeom>
          <a:noFill/>
          <a:ln w="38100" cap="flat" cmpd="sng">
            <a:solidFill>
              <a:srgbClr val="B31E23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11" name="Google Shape;211;p6"/>
          <p:cNvSpPr txBox="1"/>
          <p:nvPr/>
        </p:nvSpPr>
        <p:spPr>
          <a:xfrm>
            <a:off x="0" y="474225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2" name="Google Shape;212;p6"/>
          <p:cNvSpPr txBox="1"/>
          <p:nvPr/>
        </p:nvSpPr>
        <p:spPr>
          <a:xfrm>
            <a:off x="14033850" y="286475"/>
            <a:ext cx="4121700" cy="107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542" b="1">
                <a:solidFill>
                  <a:srgbClr val="B31E2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Neural Nomads</a:t>
            </a:r>
            <a:endParaRPr sz="3542" b="1">
              <a:solidFill>
                <a:srgbClr val="B31E2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40046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442" b="1">
              <a:solidFill>
                <a:srgbClr val="B31E23"/>
              </a:solidFill>
            </a:endParaRPr>
          </a:p>
        </p:txBody>
      </p:sp>
      <p:sp>
        <p:nvSpPr>
          <p:cNvPr id="213" name="Google Shape;213;p6"/>
          <p:cNvSpPr txBox="1"/>
          <p:nvPr/>
        </p:nvSpPr>
        <p:spPr>
          <a:xfrm>
            <a:off x="5630950" y="286475"/>
            <a:ext cx="5983800" cy="95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4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0" b="1">
                <a:latin typeface="Times New Roman"/>
                <a:ea typeface="Times New Roman"/>
                <a:cs typeface="Times New Roman"/>
                <a:sym typeface="Times New Roman"/>
              </a:rPr>
              <a:t>References</a:t>
            </a:r>
            <a:endParaRPr sz="5000"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214" name="Google Shape;214;p6"/>
          <p:cNvGraphicFramePr/>
          <p:nvPr/>
        </p:nvGraphicFramePr>
        <p:xfrm>
          <a:off x="342900" y="1558413"/>
          <a:ext cx="17424475" cy="7029561"/>
        </p:xfrm>
        <a:graphic>
          <a:graphicData uri="http://schemas.openxmlformats.org/drawingml/2006/table">
            <a:tbl>
              <a:tblPr>
                <a:noFill/>
                <a:tableStyleId>{570F69FB-F8BB-4007-8483-0752D75E864A}</a:tableStyleId>
              </a:tblPr>
              <a:tblGrid>
                <a:gridCol w="4684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72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8665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8012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86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Source</a:t>
                      </a:r>
                      <a:endParaRPr sz="22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B31E2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B31E2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B31E2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B31E2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Category</a:t>
                      </a:r>
                      <a:endParaRPr sz="22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B31E2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B31E2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B31E2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B31E2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Role in MedGuard AI</a:t>
                      </a:r>
                      <a:endParaRPr sz="22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B31E2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B31E2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B31E2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B31E2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Link</a:t>
                      </a:r>
                      <a:endParaRPr sz="22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B31E2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B31E2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B31E2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B31E2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CGHS (Govt. of India)</a:t>
                      </a:r>
                      <a:endParaRPr sz="22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B31E2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B31E2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B31E2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B31E2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Pricing Benchmark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B31E2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B31E2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B31E2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B31E2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Standard rates used to detect hospital overcharges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B31E2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B31E2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B31E2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B31E2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 u="sng">
                          <a:solidFill>
                            <a:schemeClr val="hlink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  <a:hlinkClick r:id="rId4"/>
                        </a:rPr>
                        <a:t>https://cghs.mohfw.gov.in</a:t>
                      </a:r>
                      <a:endParaRPr sz="2200" u="sng">
                        <a:solidFill>
                          <a:schemeClr val="hlink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B31E2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B31E2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B31E2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B31E2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23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IRDAI</a:t>
                      </a:r>
                      <a:endParaRPr sz="22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B31E2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B31E2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B31E2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B31E2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Insurance Regulation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B31E2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B31E2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B31E2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B31E2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Defines claim rules, approvals, and appeal frameworks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B31E2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B31E2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B31E2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B31E2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 u="sng">
                          <a:solidFill>
                            <a:schemeClr val="hlink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  <a:hlinkClick r:id="rId5"/>
                        </a:rPr>
                        <a:t>https://www.irdai.gov.in</a:t>
                      </a:r>
                      <a:endParaRPr sz="2200" u="sng">
                        <a:solidFill>
                          <a:schemeClr val="hlink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B31E2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B31E2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B31E2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B31E2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41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IRDAI Annual Reports</a:t>
                      </a:r>
                      <a:endParaRPr sz="22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B31E2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B31E2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B31E2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B31E2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Market Data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B31E2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B31E2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B31E2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B31E2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Provides claim denial rates and insurance trends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B31E2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B31E2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B31E2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B31E2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 u="sng">
                          <a:solidFill>
                            <a:schemeClr val="hlink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  <a:hlinkClick r:id="rId6"/>
                        </a:rPr>
                        <a:t>https://irdai.gov.in/annual-reports</a:t>
                      </a:r>
                      <a:endParaRPr sz="2200" u="sng">
                        <a:solidFill>
                          <a:schemeClr val="hlink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B31E2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B31E2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B31E2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B31E2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National Health Authority (Ayushman Bharat)</a:t>
                      </a:r>
                      <a:endParaRPr sz="22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B31E2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B31E2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B31E2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B31E2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Public Coverage Data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B31E2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B31E2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B31E2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B31E2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Validates scale of insured population in India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B31E2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B31E2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B31E2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B31E2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 u="sng">
                          <a:solidFill>
                            <a:schemeClr val="hlink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  <a:hlinkClick r:id="rId7"/>
                        </a:rPr>
                        <a:t>https://nha.gov.in</a:t>
                      </a:r>
                      <a:endParaRPr sz="2200" u="sng">
                        <a:solidFill>
                          <a:schemeClr val="hlink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B31E2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B31E2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B31E2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B31E2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NDHM (Digital Health Mission)</a:t>
                      </a:r>
                      <a:endParaRPr sz="22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B31E2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B31E2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B31E2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B31E2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Health Infrastructure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B31E2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B31E2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B31E2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B31E2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Supports digital health ecosystem &amp; interoperability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B31E2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B31E2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B31E2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B31E2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 u="sng">
                          <a:solidFill>
                            <a:schemeClr val="hlink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  <a:hlinkClick r:id="rId8"/>
                        </a:rPr>
                        <a:t>https://ndhm.gov.in</a:t>
                      </a:r>
                      <a:endParaRPr sz="2200" u="sng">
                        <a:solidFill>
                          <a:schemeClr val="hlink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B31E2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B31E2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B31E2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B31E2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83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NABH</a:t>
                      </a:r>
                      <a:endParaRPr sz="22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B31E2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B31E2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B31E2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B31E2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Hospital Standards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B31E2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B31E2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B31E2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B31E2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Reference for private hospital practices (future benchmarking)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B31E2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B31E2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B31E2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B31E2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 u="sng">
                          <a:solidFill>
                            <a:schemeClr val="hlink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  <a:hlinkClick r:id="rId9"/>
                        </a:rPr>
                        <a:t>https://nabh.co</a:t>
                      </a:r>
                      <a:endParaRPr sz="2200" u="sng">
                        <a:solidFill>
                          <a:schemeClr val="hlink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B31E2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B31E2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B31E2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B31E2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WHO (Health Financing)</a:t>
                      </a:r>
                      <a:endParaRPr sz="22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B31E2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B31E2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B31E2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B31E2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Global Context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B31E2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B31E2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B31E2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B31E2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Validates need for transparency in healthcare financing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B31E2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B31E2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B31E2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B31E2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 u="sng">
                          <a:solidFill>
                            <a:schemeClr val="hlink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  <a:hlinkClick r:id="rId10"/>
                        </a:rPr>
                        <a:t>https://www.who.int/health-topics/health-financing</a:t>
                      </a:r>
                      <a:endParaRPr sz="2200" u="sng">
                        <a:solidFill>
                          <a:schemeClr val="hlink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B31E2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B31E2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B31E2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B31E2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World Bank Health Data</a:t>
                      </a:r>
                      <a:endParaRPr sz="22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B31E2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B31E2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B31E2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B31E2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Economic Validation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B31E2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B31E2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B31E2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B31E2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Supports macro-level healthcare spending insights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B31E2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B31E2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B31E2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B31E2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 u="sng">
                          <a:solidFill>
                            <a:schemeClr val="hlink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  <a:hlinkClick r:id="rId11"/>
                        </a:rPr>
                        <a:t>https://data.worldbank.org</a:t>
                      </a:r>
                      <a:endParaRPr sz="2200" u="sng">
                        <a:solidFill>
                          <a:schemeClr val="hlink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B31E2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B31E2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B31E2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B31E2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803</Words>
  <Application>Microsoft Office PowerPoint</Application>
  <PresentationFormat>Custom</PresentationFormat>
  <Paragraphs>148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Arial</vt:lpstr>
      <vt:lpstr>Barlow</vt:lpstr>
      <vt:lpstr>Calibri</vt:lpstr>
      <vt:lpstr>Montserrat</vt:lpstr>
      <vt:lpstr>Roboto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Shivi</dc:creator>
  <cp:lastModifiedBy>Viraj Jadhao</cp:lastModifiedBy>
  <cp:revision>6</cp:revision>
  <dcterms:modified xsi:type="dcterms:W3CDTF">2026-04-18T19:11:05Z</dcterms:modified>
</cp:coreProperties>
</file>