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184" y="1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Shape 21"/>
        <p:cNvGrpSpPr/>
        <p:nvPr/>
      </p:nvGrpSpPr>
      <p:grpSpPr>
        <a:xfrm>
          <a:off x="0" y="0"/>
          <a:ext cx="0" cy="0"/>
          <a:chOff x="0" y="0"/>
          <a:chExt cx="0" cy="0"/>
        </a:xfrm>
      </p:grpSpPr>
      <p:sp>
        <p:nvSpPr>
          <p:cNvPr id="22" name="Google Shape;22;p1"/>
          <p:cNvSpPr/>
          <p:nvPr/>
        </p:nvSpPr>
        <p:spPr>
          <a:xfrm>
            <a:off x="-1292811" y="148903"/>
            <a:ext cx="11360988" cy="11360988"/>
          </a:xfrm>
          <a:custGeom>
            <a:avLst/>
            <a:gdLst/>
            <a:ahLst/>
            <a:cxnLst/>
            <a:rect l="l" t="t" r="r" b="b"/>
            <a:pathLst>
              <a:path w="11360988" h="11360988" extrusionOk="0">
                <a:moveTo>
                  <a:pt x="0" y="0"/>
                </a:moveTo>
                <a:lnTo>
                  <a:pt x="11360988" y="0"/>
                </a:lnTo>
                <a:lnTo>
                  <a:pt x="11360988" y="11360989"/>
                </a:lnTo>
                <a:lnTo>
                  <a:pt x="0" y="11360989"/>
                </a:lnTo>
                <a:lnTo>
                  <a:pt x="0" y="0"/>
                </a:lnTo>
                <a:close/>
              </a:path>
            </a:pathLst>
          </a:custGeom>
          <a:blipFill rotWithShape="1">
            <a:blip r:embed="rId2">
              <a:alphaModFix amt="9000"/>
            </a:blip>
            <a:stretch>
              <a:fillRect/>
            </a:stretch>
          </a:blipFill>
          <a:ln>
            <a:noFill/>
          </a:ln>
        </p:spPr>
      </p:sp>
      <p:grpSp>
        <p:nvGrpSpPr>
          <p:cNvPr id="23" name="Google Shape;23;p1"/>
          <p:cNvGrpSpPr/>
          <p:nvPr/>
        </p:nvGrpSpPr>
        <p:grpSpPr>
          <a:xfrm>
            <a:off x="11600712" y="6339195"/>
            <a:ext cx="6790294" cy="6291531"/>
            <a:chOff x="0" y="0"/>
            <a:chExt cx="812800" cy="753098"/>
          </a:xfrm>
        </p:grpSpPr>
        <p:sp>
          <p:nvSpPr>
            <p:cNvPr id="24" name="Google Shape;24;p1"/>
            <p:cNvSpPr/>
            <p:nvPr/>
          </p:nvSpPr>
          <p:spPr>
            <a:xfrm>
              <a:off x="0" y="0"/>
              <a:ext cx="812800" cy="753098"/>
            </a:xfrm>
            <a:custGeom>
              <a:avLst/>
              <a:gdLst/>
              <a:ahLst/>
              <a:cxnLst/>
              <a:rect l="l" t="t" r="r" b="b"/>
              <a:pathLst>
                <a:path w="812800" h="753098" extrusionOk="0">
                  <a:moveTo>
                    <a:pt x="406400" y="0"/>
                  </a:moveTo>
                  <a:cubicBezTo>
                    <a:pt x="181951" y="0"/>
                    <a:pt x="0" y="168587"/>
                    <a:pt x="0" y="376549"/>
                  </a:cubicBezTo>
                  <a:cubicBezTo>
                    <a:pt x="0" y="584512"/>
                    <a:pt x="181951" y="753098"/>
                    <a:pt x="406400" y="753098"/>
                  </a:cubicBezTo>
                  <a:cubicBezTo>
                    <a:pt x="630849" y="753098"/>
                    <a:pt x="812800" y="584512"/>
                    <a:pt x="812800" y="376549"/>
                  </a:cubicBezTo>
                  <a:cubicBezTo>
                    <a:pt x="812800" y="168587"/>
                    <a:pt x="630849" y="0"/>
                    <a:pt x="406400" y="0"/>
                  </a:cubicBezTo>
                  <a:close/>
                </a:path>
              </a:pathLst>
            </a:custGeom>
            <a:solidFill>
              <a:srgbClr val="E1C1A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5" name="Google Shape;25;p1"/>
            <p:cNvSpPr txBox="1"/>
            <p:nvPr/>
          </p:nvSpPr>
          <p:spPr>
            <a:xfrm>
              <a:off x="76200" y="32503"/>
              <a:ext cx="660300" cy="650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chemeClr val="dk1"/>
                </a:buClr>
                <a:buSzPts val="1800"/>
                <a:buFont typeface="Calibri"/>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grpSp>
      <p:sp>
        <p:nvSpPr>
          <p:cNvPr id="26" name="Google Shape;26;p1"/>
          <p:cNvSpPr/>
          <p:nvPr/>
        </p:nvSpPr>
        <p:spPr>
          <a:xfrm>
            <a:off x="-733979" y="-733979"/>
            <a:ext cx="3525357" cy="3525357"/>
          </a:xfrm>
          <a:custGeom>
            <a:avLst/>
            <a:gdLst/>
            <a:ahLst/>
            <a:cxnLst/>
            <a:rect l="l" t="t" r="r" b="b"/>
            <a:pathLst>
              <a:path w="3525357" h="3525357" extrusionOk="0">
                <a:moveTo>
                  <a:pt x="0" y="0"/>
                </a:moveTo>
                <a:lnTo>
                  <a:pt x="3525358" y="0"/>
                </a:lnTo>
                <a:lnTo>
                  <a:pt x="3525358" y="3525358"/>
                </a:lnTo>
                <a:lnTo>
                  <a:pt x="0" y="3525358"/>
                </a:lnTo>
                <a:lnTo>
                  <a:pt x="0" y="0"/>
                </a:lnTo>
                <a:close/>
              </a:path>
            </a:pathLst>
          </a:custGeom>
          <a:blipFill rotWithShape="1">
            <a:blip r:embed="rId2">
              <a:alphaModFix/>
            </a:blip>
            <a:stretch>
              <a:fillRect/>
            </a:stretch>
          </a:blipFill>
          <a:ln>
            <a:noFill/>
          </a:ln>
        </p:spPr>
      </p:sp>
      <p:sp>
        <p:nvSpPr>
          <p:cNvPr id="27" name="Google Shape;27;p1"/>
          <p:cNvSpPr txBox="1"/>
          <p:nvPr/>
        </p:nvSpPr>
        <p:spPr>
          <a:xfrm>
            <a:off x="11307525" y="148903"/>
            <a:ext cx="6886200" cy="19530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Clr>
                <a:srgbClr val="B31E23"/>
              </a:buClr>
              <a:buSzPts val="9074"/>
              <a:buFont typeface="Arial"/>
              <a:buNone/>
            </a:pPr>
            <a:r>
              <a:rPr lang="en-US" sz="9074" b="1" i="0" u="none" strike="noStrike" cap="none">
                <a:solidFill>
                  <a:srgbClr val="B31E23"/>
                </a:solidFill>
                <a:latin typeface="Times New Roman" panose="02020603050405020304" pitchFamily="18" charset="0"/>
                <a:ea typeface="Arial"/>
                <a:cs typeface="Times New Roman" panose="02020603050405020304" pitchFamily="18" charset="0"/>
                <a:sym typeface="Arial"/>
              </a:rPr>
              <a:t>NEXUS 2.0</a:t>
            </a: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8" name="Google Shape;28;p1"/>
          <p:cNvSpPr txBox="1"/>
          <p:nvPr/>
        </p:nvSpPr>
        <p:spPr>
          <a:xfrm>
            <a:off x="1136342" y="4105848"/>
            <a:ext cx="16015316" cy="4136517"/>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Clr>
                <a:srgbClr val="000000"/>
              </a:buClr>
              <a:buSzPts val="5027"/>
              <a:buFont typeface="Roboto"/>
              <a:buNone/>
            </a:pPr>
            <a:r>
              <a:rPr lang="en-US" sz="4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Team Name: </a:t>
            </a:r>
            <a:r>
              <a:rPr lang="en-US" sz="480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Neural Nomads</a:t>
            </a:r>
          </a:p>
          <a:p>
            <a:pPr marL="0" marR="0" lvl="0" indent="0" algn="ctr" rtl="0">
              <a:lnSpc>
                <a:spcPct val="140023"/>
              </a:lnSpc>
              <a:spcBef>
                <a:spcPts val="0"/>
              </a:spcBef>
              <a:spcAft>
                <a:spcPts val="0"/>
              </a:spcAft>
              <a:buClr>
                <a:srgbClr val="000000"/>
              </a:buClr>
              <a:buSzPts val="5027"/>
              <a:buFont typeface="Roboto"/>
              <a:buNone/>
            </a:pPr>
            <a:r>
              <a:rPr lang="en-US" sz="4800" b="1" dirty="0">
                <a:solidFill>
                  <a:srgbClr val="000000"/>
                </a:solidFill>
                <a:latin typeface="Times New Roman" panose="02020603050405020304" pitchFamily="18" charset="0"/>
                <a:ea typeface="Calibri"/>
                <a:cs typeface="Times New Roman" panose="02020603050405020304" pitchFamily="18" charset="0"/>
                <a:sym typeface="Calibri"/>
              </a:rPr>
              <a:t>Problem Statement: </a:t>
            </a:r>
            <a:r>
              <a:rPr lang="en-US" sz="480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AI-Powered Medical Billing Auditor &amp; Insurance Appeal Engine for India</a:t>
            </a:r>
          </a:p>
          <a:p>
            <a:pPr marL="0" marR="0" lvl="0" indent="0" algn="ctr" rtl="0">
              <a:lnSpc>
                <a:spcPct val="140023"/>
              </a:lnSpc>
              <a:spcBef>
                <a:spcPts val="0"/>
              </a:spcBef>
              <a:spcAft>
                <a:spcPts val="0"/>
              </a:spcAft>
              <a:buClr>
                <a:srgbClr val="000000"/>
              </a:buClr>
              <a:buSzPts val="5027"/>
              <a:buFont typeface="Roboto"/>
              <a:buNone/>
            </a:pPr>
            <a:r>
              <a:rPr lang="en-US" sz="4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Team Members:</a:t>
            </a:r>
            <a:r>
              <a:rPr lang="en-US" sz="480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 Viraj Jadhao, Bhumi Sirvi</a:t>
            </a:r>
            <a:endParaRPr sz="16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29" name="Google Shape;29;p1"/>
          <p:cNvSpPr txBox="1"/>
          <p:nvPr/>
        </p:nvSpPr>
        <p:spPr>
          <a:xfrm>
            <a:off x="6526050" y="2101900"/>
            <a:ext cx="5235900" cy="10101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4672"/>
              <a:buFont typeface="Roboto"/>
              <a:buNone/>
            </a:pPr>
            <a:r>
              <a:rPr lang="en-US" sz="4672" b="1" i="0" u="none" strike="noStrike" cap="none" dirty="0">
                <a:solidFill>
                  <a:srgbClr val="000000"/>
                </a:solidFill>
                <a:latin typeface="Times New Roman" panose="02020603050405020304" pitchFamily="18" charset="0"/>
                <a:ea typeface="Roboto"/>
                <a:cs typeface="Times New Roman" panose="02020603050405020304" pitchFamily="18" charset="0"/>
                <a:sym typeface="Roboto"/>
              </a:rPr>
              <a:t>TITLE PAGE</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
        <p:cNvGrpSpPr/>
        <p:nvPr/>
      </p:nvGrpSpPr>
      <p:grpSpPr>
        <a:xfrm>
          <a:off x="0" y="0"/>
          <a:ext cx="0" cy="0"/>
          <a:chOff x="0" y="0"/>
          <a:chExt cx="0" cy="0"/>
        </a:xfrm>
      </p:grpSpPr>
      <p:sp>
        <p:nvSpPr>
          <p:cNvPr id="2" name="Freeform 2"/>
          <p:cNvSpPr/>
          <p:nvPr/>
        </p:nvSpPr>
        <p:spPr>
          <a:xfrm>
            <a:off x="-408952" y="-408952"/>
            <a:ext cx="2048372" cy="2048372"/>
          </a:xfrm>
          <a:custGeom>
            <a:avLst/>
            <a:gdLst/>
            <a:ahLst/>
            <a:cxnLst/>
            <a:rect l="l" t="t" r="r" b="b"/>
            <a:pathLst>
              <a:path w="2048372" h="2048372">
                <a:moveTo>
                  <a:pt x="0" y="0"/>
                </a:moveTo>
                <a:lnTo>
                  <a:pt x="2048372" y="0"/>
                </a:lnTo>
                <a:lnTo>
                  <a:pt x="2048372" y="2048372"/>
                </a:lnTo>
                <a:lnTo>
                  <a:pt x="0" y="2048372"/>
                </a:lnTo>
                <a:lnTo>
                  <a:pt x="0" y="0"/>
                </a:lnTo>
                <a:close/>
              </a:path>
            </a:pathLst>
          </a:custGeom>
          <a:blipFill>
            <a:blip r:embed="rId2"/>
            <a:stretch>
              <a:fillRect/>
            </a:stretch>
          </a:blipFill>
        </p:spPr>
      </p:sp>
      <p:sp>
        <p:nvSpPr>
          <p:cNvPr id="3" name="TextBox 3"/>
          <p:cNvSpPr txBox="1"/>
          <p:nvPr/>
        </p:nvSpPr>
        <p:spPr>
          <a:xfrm>
            <a:off x="149658" y="9205186"/>
            <a:ext cx="2979523" cy="604140"/>
          </a:xfrm>
          <a:prstGeom prst="rect">
            <a:avLst/>
          </a:prstGeom>
        </p:spPr>
        <p:txBody>
          <a:bodyPr lIns="0" tIns="0" rIns="0" bIns="0" rtlCol="0" anchor="t">
            <a:spAutoFit/>
          </a:bodyPr>
          <a:lstStyle/>
          <a:p>
            <a:pPr algn="l"/>
            <a:r>
              <a:rPr lang="en-US" sz="3926" b="1">
                <a:solidFill>
                  <a:srgbClr val="B31E23"/>
                </a:solidFill>
                <a:latin typeface="Times New Roman" panose="02020603050405020304" pitchFamily="18" charset="0"/>
                <a:ea typeface="レゲエ"/>
                <a:cs typeface="Times New Roman" panose="02020603050405020304" pitchFamily="18" charset="0"/>
                <a:sym typeface="レゲエ"/>
              </a:rPr>
              <a:t>NEXUS 2.0</a:t>
            </a:r>
          </a:p>
        </p:txBody>
      </p:sp>
      <p:sp>
        <p:nvSpPr>
          <p:cNvPr id="4" name="TextBox 4"/>
          <p:cNvSpPr txBox="1"/>
          <p:nvPr/>
        </p:nvSpPr>
        <p:spPr>
          <a:xfrm>
            <a:off x="17823317" y="9205186"/>
            <a:ext cx="664587" cy="604140"/>
          </a:xfrm>
          <a:prstGeom prst="rect">
            <a:avLst/>
          </a:prstGeom>
        </p:spPr>
        <p:txBody>
          <a:bodyPr lIns="0" tIns="0" rIns="0" bIns="0" rtlCol="0" anchor="t">
            <a:spAutoFit/>
          </a:bodyPr>
          <a:lstStyle/>
          <a:p>
            <a:pPr algn="l"/>
            <a:r>
              <a:rPr lang="en-US" sz="3926" b="1">
                <a:solidFill>
                  <a:srgbClr val="B31E23"/>
                </a:solidFill>
                <a:latin typeface="Times New Roman" panose="02020603050405020304" pitchFamily="18" charset="0"/>
                <a:ea typeface="レゲエ"/>
                <a:cs typeface="Times New Roman" panose="02020603050405020304" pitchFamily="18" charset="0"/>
                <a:sym typeface="レゲエ"/>
              </a:rPr>
              <a:t>1</a:t>
            </a:r>
          </a:p>
        </p:txBody>
      </p:sp>
      <p:sp>
        <p:nvSpPr>
          <p:cNvPr id="5" name="AutoShape 5"/>
          <p:cNvSpPr/>
          <p:nvPr/>
        </p:nvSpPr>
        <p:spPr>
          <a:xfrm flipV="1">
            <a:off x="3612899" y="9951551"/>
            <a:ext cx="13924591" cy="0"/>
          </a:xfrm>
          <a:prstGeom prst="line">
            <a:avLst/>
          </a:prstGeom>
          <a:ln w="38100" cap="flat">
            <a:solidFill>
              <a:srgbClr val="B31E23"/>
            </a:solidFill>
            <a:prstDash val="solid"/>
            <a:headEnd type="none" w="sm" len="sm"/>
            <a:tailEnd type="none" w="sm" len="sm"/>
          </a:ln>
        </p:spPr>
      </p:sp>
      <p:sp>
        <p:nvSpPr>
          <p:cNvPr id="6" name="TextBox 6"/>
          <p:cNvSpPr txBox="1"/>
          <p:nvPr/>
        </p:nvSpPr>
        <p:spPr>
          <a:xfrm>
            <a:off x="15188261" y="286465"/>
            <a:ext cx="2967350" cy="529697"/>
          </a:xfrm>
          <a:prstGeom prst="rect">
            <a:avLst/>
          </a:prstGeom>
        </p:spPr>
        <p:txBody>
          <a:bodyPr lIns="0" tIns="0" rIns="0" bIns="0" rtlCol="0" anchor="t">
            <a:spAutoFit/>
          </a:bodyPr>
          <a:lstStyle/>
          <a:p>
            <a:pPr algn="ctr"/>
            <a:r>
              <a:rPr lang="en-US" sz="3442" b="1">
                <a:solidFill>
                  <a:srgbClr val="B31E23"/>
                </a:solidFill>
                <a:latin typeface="Times New Roman" panose="02020603050405020304" pitchFamily="18" charset="0"/>
                <a:ea typeface="Canva Sans Bold"/>
                <a:cs typeface="Times New Roman" panose="02020603050405020304" pitchFamily="18" charset="0"/>
                <a:sym typeface="Canva Sans Bold"/>
              </a:rPr>
              <a:t>&lt;Team Name&gt;</a:t>
            </a:r>
          </a:p>
        </p:txBody>
      </p:sp>
      <p:sp>
        <p:nvSpPr>
          <p:cNvPr id="7" name="TextBox 7"/>
          <p:cNvSpPr txBox="1"/>
          <p:nvPr/>
        </p:nvSpPr>
        <p:spPr>
          <a:xfrm>
            <a:off x="7655964" y="579176"/>
            <a:ext cx="3795673" cy="718979"/>
          </a:xfrm>
          <a:prstGeom prst="rect">
            <a:avLst/>
          </a:prstGeom>
        </p:spPr>
        <p:txBody>
          <a:bodyPr wrap="square" lIns="0" tIns="0" rIns="0" bIns="0" rtlCol="0" anchor="t">
            <a:spAutoFit/>
          </a:bodyPr>
          <a:lstStyle/>
          <a:p>
            <a:pPr algn="ctr"/>
            <a:r>
              <a:rPr lang="en-US" sz="4672" b="1" dirty="0">
                <a:solidFill>
                  <a:srgbClr val="000000"/>
                </a:solidFill>
                <a:latin typeface="Times New Roman" panose="02020603050405020304" pitchFamily="18" charset="0"/>
                <a:ea typeface="Roboto Bold"/>
                <a:cs typeface="Times New Roman" panose="02020603050405020304" pitchFamily="18" charset="0"/>
                <a:sym typeface="Roboto Bold"/>
              </a:rPr>
              <a:t>IDEA TITLE</a:t>
            </a:r>
          </a:p>
        </p:txBody>
      </p:sp>
      <p:sp>
        <p:nvSpPr>
          <p:cNvPr id="8" name="Text 0">
            <a:extLst>
              <a:ext uri="{FF2B5EF4-FFF2-40B4-BE49-F238E27FC236}">
                <a16:creationId xmlns:a16="http://schemas.microsoft.com/office/drawing/2014/main" id="{6E87CE09-F968-39B7-A96D-CDCCA6060EC5}"/>
              </a:ext>
            </a:extLst>
          </p:cNvPr>
          <p:cNvSpPr/>
          <p:nvPr/>
        </p:nvSpPr>
        <p:spPr>
          <a:xfrm>
            <a:off x="568749" y="1420399"/>
            <a:ext cx="8781294" cy="498872"/>
          </a:xfrm>
          <a:prstGeom prst="rect">
            <a:avLst/>
          </a:prstGeom>
          <a:noFill/>
          <a:ln/>
        </p:spPr>
        <p:txBody>
          <a:bodyPr wrap="none" lIns="0" tIns="0" rIns="0" bIns="0" rtlCol="0" anchor="t"/>
          <a:lstStyle/>
          <a:p>
            <a:pPr marL="0" indent="0" algn="l">
              <a:buNone/>
            </a:pPr>
            <a:r>
              <a:rPr lang="en-US" sz="4800" b="1" dirty="0">
                <a:latin typeface="Times New Roman" panose="02020603050405020304" pitchFamily="18" charset="0"/>
                <a:ea typeface="Barlow Bold" pitchFamily="34" charset="-122"/>
                <a:cs typeface="Times New Roman" panose="02020603050405020304" pitchFamily="18" charset="0"/>
              </a:rPr>
              <a:t>The Healthcare Financing Crisis in India</a:t>
            </a:r>
            <a:endParaRPr lang="en-US" sz="4800" dirty="0">
              <a:latin typeface="Times New Roman" panose="02020603050405020304" pitchFamily="18" charset="0"/>
              <a:cs typeface="Times New Roman" panose="02020603050405020304" pitchFamily="18" charset="0"/>
            </a:endParaRPr>
          </a:p>
        </p:txBody>
      </p:sp>
      <p:sp>
        <p:nvSpPr>
          <p:cNvPr id="9" name="Text 1">
            <a:extLst>
              <a:ext uri="{FF2B5EF4-FFF2-40B4-BE49-F238E27FC236}">
                <a16:creationId xmlns:a16="http://schemas.microsoft.com/office/drawing/2014/main" id="{3DEE8649-9B22-1EC1-8EE9-074066AD6951}"/>
              </a:ext>
            </a:extLst>
          </p:cNvPr>
          <p:cNvSpPr/>
          <p:nvPr/>
        </p:nvSpPr>
        <p:spPr>
          <a:xfrm>
            <a:off x="568749" y="2128560"/>
            <a:ext cx="16671080" cy="954528"/>
          </a:xfrm>
          <a:prstGeom prst="rect">
            <a:avLst/>
          </a:prstGeom>
          <a:noFill/>
          <a:ln/>
        </p:spPr>
        <p:txBody>
          <a:bodyPr wrap="square" lIns="0" tIns="0" rIns="0" bIns="0" rtlCol="0" anchor="t"/>
          <a:lstStyle/>
          <a:p>
            <a:pPr marL="0" indent="0" algn="just">
              <a:buNone/>
            </a:pPr>
            <a:r>
              <a:rPr lang="en-US" sz="2000" dirty="0">
                <a:latin typeface="Times New Roman" panose="02020603050405020304" pitchFamily="18" charset="0"/>
                <a:ea typeface="Montserrat" pitchFamily="34" charset="-122"/>
                <a:cs typeface="Times New Roman" panose="02020603050405020304" pitchFamily="18" charset="0"/>
              </a:rPr>
              <a:t>India's healthcare financing system faces a critical transparency gap that leaves millions of patients vulnerable to financial exploitation. Despite rapid digitalization in other sectors, healthcare billing and insurance claims remain opaque and inaccessible at the patient level, resulting in significant financial losses that go unchallenged.</a:t>
            </a:r>
            <a:endParaRPr lang="en-US" sz="20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C489087E-8C59-F958-D444-C94589F1D113}"/>
              </a:ext>
            </a:extLst>
          </p:cNvPr>
          <p:cNvSpPr/>
          <p:nvPr/>
        </p:nvSpPr>
        <p:spPr>
          <a:xfrm>
            <a:off x="2623938" y="3395686"/>
            <a:ext cx="6591269" cy="500420"/>
          </a:xfrm>
          <a:prstGeom prst="rect">
            <a:avLst/>
          </a:prstGeom>
          <a:noFill/>
          <a:ln/>
        </p:spPr>
        <p:txBody>
          <a:bodyPr wrap="none" lIns="0" tIns="0" rIns="0" bIns="0" rtlCol="0" anchor="t"/>
          <a:lstStyle/>
          <a:p>
            <a:pPr marL="0" indent="0" algn="ctr">
              <a:buNone/>
            </a:pPr>
            <a:r>
              <a:rPr lang="en-US" sz="6000" b="1" dirty="0">
                <a:latin typeface="Times New Roman" panose="02020603050405020304" pitchFamily="18" charset="0"/>
                <a:ea typeface="Barlow Bold" pitchFamily="34" charset="-122"/>
                <a:cs typeface="Times New Roman" panose="02020603050405020304" pitchFamily="18" charset="0"/>
              </a:rPr>
              <a:t>50Cr</a:t>
            </a:r>
            <a:endParaRPr lang="en-US" sz="6000" dirty="0">
              <a:latin typeface="Times New Roman" panose="02020603050405020304" pitchFamily="18" charset="0"/>
              <a:cs typeface="Times New Roman" panose="02020603050405020304" pitchFamily="18" charset="0"/>
            </a:endParaRPr>
          </a:p>
        </p:txBody>
      </p:sp>
      <p:sp>
        <p:nvSpPr>
          <p:cNvPr id="11" name="Text 3">
            <a:extLst>
              <a:ext uri="{FF2B5EF4-FFF2-40B4-BE49-F238E27FC236}">
                <a16:creationId xmlns:a16="http://schemas.microsoft.com/office/drawing/2014/main" id="{FCE8870E-DABC-01E6-EBEE-EBD4FB97463A}"/>
              </a:ext>
            </a:extLst>
          </p:cNvPr>
          <p:cNvSpPr/>
          <p:nvPr/>
        </p:nvSpPr>
        <p:spPr>
          <a:xfrm>
            <a:off x="4218661" y="4062793"/>
            <a:ext cx="2536791" cy="249436"/>
          </a:xfrm>
          <a:prstGeom prst="rect">
            <a:avLst/>
          </a:prstGeom>
          <a:noFill/>
          <a:ln/>
        </p:spPr>
        <p:txBody>
          <a:bodyPr wrap="none" lIns="0" tIns="0" rIns="0" bIns="0" rtlCol="0" anchor="t"/>
          <a:lstStyle/>
          <a:p>
            <a:pPr marL="0" indent="0" algn="ctr">
              <a:buNone/>
            </a:pPr>
            <a:r>
              <a:rPr lang="en-US" sz="2800" b="1" dirty="0">
                <a:latin typeface="Times New Roman" panose="02020603050405020304" pitchFamily="18" charset="0"/>
                <a:ea typeface="Barlow Bold" pitchFamily="34" charset="-122"/>
                <a:cs typeface="Times New Roman" panose="02020603050405020304" pitchFamily="18" charset="0"/>
              </a:rPr>
              <a:t>Insured Population</a:t>
            </a:r>
            <a:endParaRPr lang="en-US" sz="2800" dirty="0">
              <a:latin typeface="Times New Roman" panose="02020603050405020304" pitchFamily="18" charset="0"/>
              <a:cs typeface="Times New Roman" panose="02020603050405020304" pitchFamily="18" charset="0"/>
            </a:endParaRPr>
          </a:p>
        </p:txBody>
      </p:sp>
      <p:sp>
        <p:nvSpPr>
          <p:cNvPr id="12" name="Text 4">
            <a:extLst>
              <a:ext uri="{FF2B5EF4-FFF2-40B4-BE49-F238E27FC236}">
                <a16:creationId xmlns:a16="http://schemas.microsoft.com/office/drawing/2014/main" id="{783F5C78-DA2B-0D9F-3775-587A9F632DDC}"/>
              </a:ext>
            </a:extLst>
          </p:cNvPr>
          <p:cNvSpPr/>
          <p:nvPr/>
        </p:nvSpPr>
        <p:spPr>
          <a:xfrm>
            <a:off x="1632399" y="4385246"/>
            <a:ext cx="8239123" cy="218361"/>
          </a:xfrm>
          <a:prstGeom prst="rect">
            <a:avLst/>
          </a:prstGeom>
          <a:noFill/>
          <a:ln/>
        </p:spPr>
        <p:txBody>
          <a:bodyPr wrap="none" lIns="0" tIns="0" rIns="0" bIns="0" rtlCol="0" anchor="t"/>
          <a:lstStyle/>
          <a:p>
            <a:pPr marL="0" indent="0" algn="ctr">
              <a:buNone/>
            </a:pPr>
            <a:r>
              <a:rPr lang="en-US" sz="2000" dirty="0">
                <a:latin typeface="Times New Roman" panose="02020603050405020304" pitchFamily="18" charset="0"/>
                <a:ea typeface="Montserrat" pitchFamily="34" charset="-122"/>
                <a:cs typeface="Times New Roman" panose="02020603050405020304" pitchFamily="18" charset="0"/>
              </a:rPr>
              <a:t>Individuals covered by health insurance across India</a:t>
            </a:r>
            <a:endParaRPr lang="en-US" sz="2000" dirty="0">
              <a:latin typeface="Times New Roman" panose="02020603050405020304" pitchFamily="18" charset="0"/>
              <a:cs typeface="Times New Roman" panose="02020603050405020304" pitchFamily="18" charset="0"/>
            </a:endParaRPr>
          </a:p>
        </p:txBody>
      </p:sp>
      <p:sp>
        <p:nvSpPr>
          <p:cNvPr id="13" name="Text 5">
            <a:extLst>
              <a:ext uri="{FF2B5EF4-FFF2-40B4-BE49-F238E27FC236}">
                <a16:creationId xmlns:a16="http://schemas.microsoft.com/office/drawing/2014/main" id="{2744BA1C-0B1C-9252-2C25-6D54A009096B}"/>
              </a:ext>
            </a:extLst>
          </p:cNvPr>
          <p:cNvSpPr/>
          <p:nvPr/>
        </p:nvSpPr>
        <p:spPr>
          <a:xfrm>
            <a:off x="9088941" y="3412081"/>
            <a:ext cx="6591420" cy="500420"/>
          </a:xfrm>
          <a:prstGeom prst="rect">
            <a:avLst/>
          </a:prstGeom>
          <a:noFill/>
          <a:ln/>
        </p:spPr>
        <p:txBody>
          <a:bodyPr wrap="none" lIns="0" tIns="0" rIns="0" bIns="0" rtlCol="0" anchor="t"/>
          <a:lstStyle/>
          <a:p>
            <a:pPr marL="0" indent="0" algn="ctr">
              <a:buNone/>
            </a:pPr>
            <a:r>
              <a:rPr lang="en-US" sz="6000" b="1" dirty="0">
                <a:latin typeface="Times New Roman" panose="02020603050405020304" pitchFamily="18" charset="0"/>
                <a:ea typeface="Barlow Bold" pitchFamily="34" charset="-122"/>
                <a:cs typeface="Times New Roman" panose="02020603050405020304" pitchFamily="18" charset="0"/>
              </a:rPr>
              <a:t>8M</a:t>
            </a:r>
            <a:endParaRPr lang="en-US" sz="6000" dirty="0">
              <a:latin typeface="Times New Roman" panose="02020603050405020304" pitchFamily="18" charset="0"/>
              <a:cs typeface="Times New Roman" panose="02020603050405020304" pitchFamily="18" charset="0"/>
            </a:endParaRPr>
          </a:p>
        </p:txBody>
      </p:sp>
      <p:sp>
        <p:nvSpPr>
          <p:cNvPr id="14" name="Text 6">
            <a:extLst>
              <a:ext uri="{FF2B5EF4-FFF2-40B4-BE49-F238E27FC236}">
                <a16:creationId xmlns:a16="http://schemas.microsoft.com/office/drawing/2014/main" id="{42CC47A3-B82A-57AA-1BCF-23DA20DB1C20}"/>
              </a:ext>
            </a:extLst>
          </p:cNvPr>
          <p:cNvSpPr/>
          <p:nvPr/>
        </p:nvSpPr>
        <p:spPr>
          <a:xfrm>
            <a:off x="11116255" y="4062793"/>
            <a:ext cx="2536791" cy="249436"/>
          </a:xfrm>
          <a:prstGeom prst="rect">
            <a:avLst/>
          </a:prstGeom>
          <a:noFill/>
          <a:ln/>
        </p:spPr>
        <p:txBody>
          <a:bodyPr wrap="none" lIns="0" tIns="0" rIns="0" bIns="0" rtlCol="0" anchor="t"/>
          <a:lstStyle/>
          <a:p>
            <a:pPr marL="0" indent="0" algn="ctr">
              <a:buNone/>
            </a:pPr>
            <a:r>
              <a:rPr lang="en-US" sz="2800" b="1" dirty="0">
                <a:latin typeface="Times New Roman" panose="02020603050405020304" pitchFamily="18" charset="0"/>
                <a:ea typeface="Barlow Bold" pitchFamily="34" charset="-122"/>
                <a:cs typeface="Times New Roman" panose="02020603050405020304" pitchFamily="18" charset="0"/>
              </a:rPr>
              <a:t>Annual Claim Denials</a:t>
            </a:r>
            <a:endParaRPr lang="en-US" sz="2800" dirty="0">
              <a:latin typeface="Times New Roman" panose="02020603050405020304" pitchFamily="18" charset="0"/>
              <a:cs typeface="Times New Roman" panose="02020603050405020304" pitchFamily="18" charset="0"/>
            </a:endParaRPr>
          </a:p>
        </p:txBody>
      </p:sp>
      <p:sp>
        <p:nvSpPr>
          <p:cNvPr id="15" name="Text 7">
            <a:extLst>
              <a:ext uri="{FF2B5EF4-FFF2-40B4-BE49-F238E27FC236}">
                <a16:creationId xmlns:a16="http://schemas.microsoft.com/office/drawing/2014/main" id="{C3BB7737-5A8F-B980-DC35-CD0BA7FDCC4D}"/>
              </a:ext>
            </a:extLst>
          </p:cNvPr>
          <p:cNvSpPr/>
          <p:nvPr/>
        </p:nvSpPr>
        <p:spPr>
          <a:xfrm>
            <a:off x="8265014" y="4385246"/>
            <a:ext cx="8239275" cy="218361"/>
          </a:xfrm>
          <a:prstGeom prst="rect">
            <a:avLst/>
          </a:prstGeom>
          <a:noFill/>
          <a:ln/>
        </p:spPr>
        <p:txBody>
          <a:bodyPr wrap="none" lIns="0" tIns="0" rIns="0" bIns="0" rtlCol="0" anchor="t"/>
          <a:lstStyle/>
          <a:p>
            <a:pPr marL="0" indent="0" algn="ctr">
              <a:buNone/>
            </a:pPr>
            <a:r>
              <a:rPr lang="en-US" sz="2000" dirty="0">
                <a:latin typeface="Times New Roman" panose="02020603050405020304" pitchFamily="18" charset="0"/>
                <a:ea typeface="Montserrat" pitchFamily="34" charset="-122"/>
                <a:cs typeface="Times New Roman" panose="02020603050405020304" pitchFamily="18" charset="0"/>
              </a:rPr>
              <a:t>Insurance claims rejected each year</a:t>
            </a:r>
            <a:endParaRPr lang="en-US" sz="200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8B7B0ECA-46B5-AA8F-AF68-171E4960C681}"/>
              </a:ext>
            </a:extLst>
          </p:cNvPr>
          <p:cNvSpPr/>
          <p:nvPr/>
        </p:nvSpPr>
        <p:spPr>
          <a:xfrm>
            <a:off x="2456325" y="4895800"/>
            <a:ext cx="6591269" cy="1041649"/>
          </a:xfrm>
          <a:prstGeom prst="rect">
            <a:avLst/>
          </a:prstGeom>
          <a:noFill/>
          <a:ln/>
        </p:spPr>
        <p:txBody>
          <a:bodyPr wrap="none" lIns="0" tIns="0" rIns="0" bIns="0" rtlCol="0" anchor="t"/>
          <a:lstStyle/>
          <a:p>
            <a:pPr marL="0" indent="0" algn="ctr">
              <a:buNone/>
            </a:pPr>
            <a:r>
              <a:rPr lang="en-US" sz="6000" b="1" dirty="0">
                <a:latin typeface="Times New Roman" panose="02020603050405020304" pitchFamily="18" charset="0"/>
                <a:ea typeface="Barlow Bold" pitchFamily="34" charset="-122"/>
                <a:cs typeface="Times New Roman" panose="02020603050405020304" pitchFamily="18" charset="0"/>
              </a:rPr>
              <a:t>67%</a:t>
            </a:r>
            <a:endParaRPr lang="en-US" sz="6000"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DBDC7FC1-5C35-6B41-8BC8-FEB5B8E0C2AA}"/>
              </a:ext>
            </a:extLst>
          </p:cNvPr>
          <p:cNvSpPr/>
          <p:nvPr/>
        </p:nvSpPr>
        <p:spPr>
          <a:xfrm>
            <a:off x="4307694" y="5577809"/>
            <a:ext cx="2536791" cy="249436"/>
          </a:xfrm>
          <a:prstGeom prst="rect">
            <a:avLst/>
          </a:prstGeom>
          <a:noFill/>
          <a:ln/>
        </p:spPr>
        <p:txBody>
          <a:bodyPr wrap="none" lIns="0" tIns="0" rIns="0" bIns="0" rtlCol="0" anchor="t"/>
          <a:lstStyle/>
          <a:p>
            <a:pPr marL="0" indent="0" algn="ctr">
              <a:buNone/>
            </a:pPr>
            <a:r>
              <a:rPr lang="en-US" sz="2800" b="1" dirty="0">
                <a:latin typeface="Times New Roman" panose="02020603050405020304" pitchFamily="18" charset="0"/>
                <a:ea typeface="Barlow Bold" pitchFamily="34" charset="-122"/>
                <a:cs typeface="Times New Roman" panose="02020603050405020304" pitchFamily="18" charset="0"/>
              </a:rPr>
              <a:t>Never Appealed</a:t>
            </a:r>
            <a:endParaRPr lang="en-US" sz="2800" dirty="0">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151F472F-65C0-D234-E69C-F023F9B9C2FD}"/>
              </a:ext>
            </a:extLst>
          </p:cNvPr>
          <p:cNvSpPr/>
          <p:nvPr/>
        </p:nvSpPr>
        <p:spPr>
          <a:xfrm>
            <a:off x="1632399" y="5911270"/>
            <a:ext cx="8239123" cy="218361"/>
          </a:xfrm>
          <a:prstGeom prst="rect">
            <a:avLst/>
          </a:prstGeom>
          <a:noFill/>
          <a:ln/>
        </p:spPr>
        <p:txBody>
          <a:bodyPr wrap="none" lIns="0" tIns="0" rIns="0" bIns="0" rtlCol="0" anchor="t"/>
          <a:lstStyle/>
          <a:p>
            <a:pPr marL="0" indent="0" algn="ctr">
              <a:buNone/>
            </a:pPr>
            <a:r>
              <a:rPr lang="en-US" sz="2000" dirty="0">
                <a:latin typeface="Times New Roman" panose="02020603050405020304" pitchFamily="18" charset="0"/>
                <a:ea typeface="Montserrat" pitchFamily="34" charset="-122"/>
                <a:cs typeface="Times New Roman" panose="02020603050405020304" pitchFamily="18" charset="0"/>
              </a:rPr>
              <a:t>Denied claims that go unchallenged</a:t>
            </a:r>
            <a:endParaRPr lang="en-US" sz="2000" dirty="0">
              <a:latin typeface="Times New Roman" panose="02020603050405020304" pitchFamily="18" charset="0"/>
              <a:cs typeface="Times New Roman" panose="02020603050405020304" pitchFamily="18" charset="0"/>
            </a:endParaRPr>
          </a:p>
        </p:txBody>
      </p:sp>
      <p:sp>
        <p:nvSpPr>
          <p:cNvPr id="19" name="Text 11">
            <a:extLst>
              <a:ext uri="{FF2B5EF4-FFF2-40B4-BE49-F238E27FC236}">
                <a16:creationId xmlns:a16="http://schemas.microsoft.com/office/drawing/2014/main" id="{3C454FB0-03A9-020F-A8D0-9A4BAE828388}"/>
              </a:ext>
            </a:extLst>
          </p:cNvPr>
          <p:cNvSpPr/>
          <p:nvPr/>
        </p:nvSpPr>
        <p:spPr>
          <a:xfrm>
            <a:off x="9088941" y="4892698"/>
            <a:ext cx="6591420" cy="500420"/>
          </a:xfrm>
          <a:prstGeom prst="rect">
            <a:avLst/>
          </a:prstGeom>
          <a:noFill/>
          <a:ln/>
        </p:spPr>
        <p:txBody>
          <a:bodyPr wrap="none" lIns="0" tIns="0" rIns="0" bIns="0" rtlCol="0" anchor="t"/>
          <a:lstStyle/>
          <a:p>
            <a:pPr marL="0" indent="0" algn="ctr">
              <a:buNone/>
            </a:pPr>
            <a:r>
              <a:rPr lang="en-US" sz="6000" b="1" dirty="0">
                <a:latin typeface="Times New Roman" panose="02020603050405020304" pitchFamily="18" charset="0"/>
                <a:ea typeface="Barlow Bold" pitchFamily="34" charset="-122"/>
                <a:cs typeface="Times New Roman" panose="02020603050405020304" pitchFamily="18" charset="0"/>
              </a:rPr>
              <a:t>₹8K-15K</a:t>
            </a:r>
            <a:endParaRPr lang="en-US" sz="6000" dirty="0">
              <a:latin typeface="Times New Roman" panose="02020603050405020304" pitchFamily="18" charset="0"/>
              <a:cs typeface="Times New Roman" panose="02020603050405020304" pitchFamily="18" charset="0"/>
            </a:endParaRPr>
          </a:p>
        </p:txBody>
      </p:sp>
      <p:sp>
        <p:nvSpPr>
          <p:cNvPr id="20" name="Text 12">
            <a:extLst>
              <a:ext uri="{FF2B5EF4-FFF2-40B4-BE49-F238E27FC236}">
                <a16:creationId xmlns:a16="http://schemas.microsoft.com/office/drawing/2014/main" id="{AFA20275-41A7-D91B-2794-3E412E4AF933}"/>
              </a:ext>
            </a:extLst>
          </p:cNvPr>
          <p:cNvSpPr/>
          <p:nvPr/>
        </p:nvSpPr>
        <p:spPr>
          <a:xfrm>
            <a:off x="11116255" y="5575487"/>
            <a:ext cx="2536791" cy="249436"/>
          </a:xfrm>
          <a:prstGeom prst="rect">
            <a:avLst/>
          </a:prstGeom>
          <a:noFill/>
          <a:ln/>
        </p:spPr>
        <p:txBody>
          <a:bodyPr wrap="none" lIns="0" tIns="0" rIns="0" bIns="0" rtlCol="0" anchor="t"/>
          <a:lstStyle/>
          <a:p>
            <a:pPr marL="0" indent="0" algn="ctr">
              <a:buNone/>
            </a:pPr>
            <a:r>
              <a:rPr lang="en-US" sz="2800" b="1" dirty="0">
                <a:latin typeface="Times New Roman" panose="02020603050405020304" pitchFamily="18" charset="0"/>
                <a:ea typeface="Barlow Bold" pitchFamily="34" charset="-122"/>
                <a:cs typeface="Times New Roman" panose="02020603050405020304" pitchFamily="18" charset="0"/>
              </a:rPr>
              <a:t>Average Overcharge</a:t>
            </a:r>
            <a:endParaRPr lang="en-US" sz="2800" dirty="0">
              <a:latin typeface="Times New Roman" panose="02020603050405020304" pitchFamily="18" charset="0"/>
              <a:cs typeface="Times New Roman" panose="02020603050405020304" pitchFamily="18" charset="0"/>
            </a:endParaRPr>
          </a:p>
        </p:txBody>
      </p:sp>
      <p:sp>
        <p:nvSpPr>
          <p:cNvPr id="21" name="Text 13">
            <a:extLst>
              <a:ext uri="{FF2B5EF4-FFF2-40B4-BE49-F238E27FC236}">
                <a16:creationId xmlns:a16="http://schemas.microsoft.com/office/drawing/2014/main" id="{E5C8E14E-C8D3-8EE1-3AEE-8AFB0469DE4C}"/>
              </a:ext>
            </a:extLst>
          </p:cNvPr>
          <p:cNvSpPr/>
          <p:nvPr/>
        </p:nvSpPr>
        <p:spPr>
          <a:xfrm>
            <a:off x="8265014" y="5999861"/>
            <a:ext cx="8239275" cy="218361"/>
          </a:xfrm>
          <a:prstGeom prst="rect">
            <a:avLst/>
          </a:prstGeom>
          <a:noFill/>
          <a:ln/>
        </p:spPr>
        <p:txBody>
          <a:bodyPr wrap="none" lIns="0" tIns="0" rIns="0" bIns="0" rtlCol="0" anchor="t"/>
          <a:lstStyle/>
          <a:p>
            <a:pPr marL="0" indent="0" algn="ctr">
              <a:buNone/>
            </a:pPr>
            <a:r>
              <a:rPr lang="en-US" sz="2000" dirty="0">
                <a:latin typeface="Times New Roman" panose="02020603050405020304" pitchFamily="18" charset="0"/>
                <a:ea typeface="Montserrat" pitchFamily="34" charset="-122"/>
                <a:cs typeface="Times New Roman" panose="02020603050405020304" pitchFamily="18" charset="0"/>
              </a:rPr>
              <a:t>Per hospital bill excess billing</a:t>
            </a:r>
            <a:endParaRPr lang="en-US" sz="2000" dirty="0">
              <a:latin typeface="Times New Roman" panose="02020603050405020304" pitchFamily="18" charset="0"/>
              <a:cs typeface="Times New Roman" panose="02020603050405020304" pitchFamily="18" charset="0"/>
            </a:endParaRPr>
          </a:p>
        </p:txBody>
      </p:sp>
      <p:sp>
        <p:nvSpPr>
          <p:cNvPr id="22" name="Text 14">
            <a:extLst>
              <a:ext uri="{FF2B5EF4-FFF2-40B4-BE49-F238E27FC236}">
                <a16:creationId xmlns:a16="http://schemas.microsoft.com/office/drawing/2014/main" id="{75E737C5-3B81-E39C-C77E-9D00B5797AB4}"/>
              </a:ext>
            </a:extLst>
          </p:cNvPr>
          <p:cNvSpPr/>
          <p:nvPr/>
        </p:nvSpPr>
        <p:spPr>
          <a:xfrm>
            <a:off x="568749" y="6273970"/>
            <a:ext cx="3044150" cy="299204"/>
          </a:xfrm>
          <a:prstGeom prst="rect">
            <a:avLst/>
          </a:prstGeom>
          <a:noFill/>
          <a:ln/>
        </p:spPr>
        <p:txBody>
          <a:bodyPr wrap="none" lIns="0" tIns="0" rIns="0" bIns="0" rtlCol="0" anchor="t"/>
          <a:lstStyle/>
          <a:p>
            <a:pPr marL="0" indent="0" algn="l">
              <a:buNone/>
            </a:pPr>
            <a:r>
              <a:rPr lang="en-US" sz="3600" b="1" dirty="0">
                <a:latin typeface="Times New Roman" panose="02020603050405020304" pitchFamily="18" charset="0"/>
                <a:ea typeface="Barlow Bold" pitchFamily="34" charset="-122"/>
                <a:cs typeface="Times New Roman" panose="02020603050405020304" pitchFamily="18" charset="0"/>
              </a:rPr>
              <a:t>Why This Gap Exists</a:t>
            </a:r>
            <a:endParaRPr lang="en-US" sz="3600" dirty="0">
              <a:latin typeface="Times New Roman" panose="02020603050405020304" pitchFamily="18" charset="0"/>
              <a:cs typeface="Times New Roman" panose="02020603050405020304" pitchFamily="18" charset="0"/>
            </a:endParaRPr>
          </a:p>
        </p:txBody>
      </p:sp>
      <p:sp>
        <p:nvSpPr>
          <p:cNvPr id="23" name="Text 15">
            <a:extLst>
              <a:ext uri="{FF2B5EF4-FFF2-40B4-BE49-F238E27FC236}">
                <a16:creationId xmlns:a16="http://schemas.microsoft.com/office/drawing/2014/main" id="{F9C4CF2E-BB66-32C8-1757-D05981337DD5}"/>
              </a:ext>
            </a:extLst>
          </p:cNvPr>
          <p:cNvSpPr/>
          <p:nvPr/>
        </p:nvSpPr>
        <p:spPr>
          <a:xfrm>
            <a:off x="568749" y="6826798"/>
            <a:ext cx="16671080" cy="1261348"/>
          </a:xfrm>
          <a:prstGeom prst="rect">
            <a:avLst/>
          </a:prstGeom>
          <a:noFill/>
          <a:ln/>
        </p:spPr>
        <p:txBody>
          <a:bodyPr wrap="square" lIns="0" tIns="0" rIns="0" bIns="0" rtlCol="0" anchor="t"/>
          <a:lstStyle/>
          <a:p>
            <a:pPr marL="342900" indent="-342900" algn="just">
              <a:buSzPct val="100000"/>
              <a:buChar char="•"/>
            </a:pPr>
            <a:r>
              <a:rPr lang="en-US" sz="2000" dirty="0">
                <a:latin typeface="Times New Roman" panose="02020603050405020304" pitchFamily="18" charset="0"/>
                <a:ea typeface="Montserrat" pitchFamily="34" charset="-122"/>
                <a:cs typeface="Times New Roman" panose="02020603050405020304" pitchFamily="18" charset="0"/>
              </a:rPr>
              <a:t>Non-standardized and highly complex hospital billing formats that vary between institutions</a:t>
            </a:r>
            <a:endParaRPr lang="en-US" sz="2000" dirty="0">
              <a:latin typeface="Times New Roman" panose="02020603050405020304" pitchFamily="18" charset="0"/>
              <a:cs typeface="Times New Roman" panose="02020603050405020304" pitchFamily="18" charset="0"/>
            </a:endParaRPr>
          </a:p>
          <a:p>
            <a:pPr marL="342900" indent="-342900" algn="just">
              <a:buSzPct val="100000"/>
              <a:buChar char="•"/>
            </a:pPr>
            <a:r>
              <a:rPr lang="en-US" sz="2000" dirty="0">
                <a:latin typeface="Times New Roman" panose="02020603050405020304" pitchFamily="18" charset="0"/>
                <a:ea typeface="Montserrat" pitchFamily="34" charset="-122"/>
                <a:cs typeface="Times New Roman" panose="02020603050405020304" pitchFamily="18" charset="0"/>
              </a:rPr>
              <a:t>Limited patient understanding of medical terminology, legal jargon, and regulatory frameworks</a:t>
            </a:r>
            <a:endParaRPr lang="en-US" sz="2000" dirty="0">
              <a:latin typeface="Times New Roman" panose="02020603050405020304" pitchFamily="18" charset="0"/>
              <a:cs typeface="Times New Roman" panose="02020603050405020304" pitchFamily="18" charset="0"/>
            </a:endParaRPr>
          </a:p>
          <a:p>
            <a:pPr marL="342900" indent="-342900" algn="just">
              <a:buSzPct val="100000"/>
              <a:buChar char="•"/>
            </a:pPr>
            <a:r>
              <a:rPr lang="en-US" sz="2000" dirty="0">
                <a:latin typeface="Times New Roman" panose="02020603050405020304" pitchFamily="18" charset="0"/>
                <a:ea typeface="Montserrat" pitchFamily="34" charset="-122"/>
                <a:cs typeface="Times New Roman" panose="02020603050405020304" pitchFamily="18" charset="0"/>
              </a:rPr>
              <a:t>Lack of accessible interpretation of IRDAI regulations and compliance requirements</a:t>
            </a:r>
            <a:endParaRPr lang="en-US" sz="2000" dirty="0">
              <a:latin typeface="Times New Roman" panose="02020603050405020304" pitchFamily="18" charset="0"/>
              <a:cs typeface="Times New Roman" panose="02020603050405020304" pitchFamily="18" charset="0"/>
            </a:endParaRPr>
          </a:p>
          <a:p>
            <a:pPr marL="342900" indent="-342900" algn="just">
              <a:buSzPct val="100000"/>
              <a:buChar char="•"/>
            </a:pPr>
            <a:r>
              <a:rPr lang="en-US" sz="2000" dirty="0">
                <a:latin typeface="Times New Roman" panose="02020603050405020304" pitchFamily="18" charset="0"/>
                <a:ea typeface="Montserrat" pitchFamily="34" charset="-122"/>
                <a:cs typeface="Times New Roman" panose="02020603050405020304" pitchFamily="18" charset="0"/>
              </a:rPr>
              <a:t>Prohibitively high cost and significant effort required to file appeals and challenge decisions</a:t>
            </a:r>
            <a:endParaRPr lang="en-US" sz="2000" dirty="0">
              <a:latin typeface="Times New Roman" panose="02020603050405020304" pitchFamily="18" charset="0"/>
              <a:cs typeface="Times New Roman" panose="02020603050405020304" pitchFamily="18" charset="0"/>
            </a:endParaRPr>
          </a:p>
          <a:p>
            <a:pPr marL="342900" indent="-342900" algn="just">
              <a:buSzPct val="100000"/>
              <a:buChar char="•"/>
            </a:pPr>
            <a:r>
              <a:rPr lang="en-US" sz="2000" dirty="0">
                <a:latin typeface="Times New Roman" panose="02020603050405020304" pitchFamily="18" charset="0"/>
                <a:ea typeface="Montserrat" pitchFamily="34" charset="-122"/>
                <a:cs typeface="Times New Roman" panose="02020603050405020304" pitchFamily="18" charset="0"/>
              </a:rPr>
              <a:t>Absence of automated tools that can analyze bills and generate evidence-based appeals</a:t>
            </a:r>
            <a:endParaRPr lang="en-US" sz="2000" dirty="0">
              <a:latin typeface="Times New Roman" panose="02020603050405020304" pitchFamily="18" charset="0"/>
              <a:cs typeface="Times New Roman" panose="02020603050405020304" pitchFamily="18" charset="0"/>
            </a:endParaRPr>
          </a:p>
        </p:txBody>
      </p:sp>
      <p:sp>
        <p:nvSpPr>
          <p:cNvPr id="24" name="Text 16">
            <a:extLst>
              <a:ext uri="{FF2B5EF4-FFF2-40B4-BE49-F238E27FC236}">
                <a16:creationId xmlns:a16="http://schemas.microsoft.com/office/drawing/2014/main" id="{E381835E-2E99-4A63-CCE9-0F83EF656DE0}"/>
              </a:ext>
            </a:extLst>
          </p:cNvPr>
          <p:cNvSpPr/>
          <p:nvPr/>
        </p:nvSpPr>
        <p:spPr>
          <a:xfrm>
            <a:off x="568749" y="8428305"/>
            <a:ext cx="16671080" cy="604138"/>
          </a:xfrm>
          <a:prstGeom prst="rect">
            <a:avLst/>
          </a:prstGeom>
          <a:noFill/>
          <a:ln/>
        </p:spPr>
        <p:txBody>
          <a:bodyPr wrap="square" lIns="0" tIns="0" rIns="0" bIns="0" rtlCol="0" anchor="t"/>
          <a:lstStyle/>
          <a:p>
            <a:pPr marL="0" indent="0" algn="just">
              <a:buNone/>
            </a:pPr>
            <a:r>
              <a:rPr lang="en-US" sz="2000" dirty="0">
                <a:latin typeface="Times New Roman" panose="02020603050405020304" pitchFamily="18" charset="0"/>
                <a:ea typeface="Montserrat" pitchFamily="34" charset="-122"/>
                <a:cs typeface="Times New Roman" panose="02020603050405020304" pitchFamily="18" charset="0"/>
              </a:rPr>
              <a:t>The result is a systemic failure where patients—particularly those from non-English speaking backgrounds or lower socioeconomic groups—suffer significant financial losses due to lack of actionable tools and accessible support systems.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
        <p:cNvGrpSpPr/>
        <p:nvPr/>
      </p:nvGrpSpPr>
      <p:grpSpPr>
        <a:xfrm>
          <a:off x="0" y="0"/>
          <a:ext cx="0" cy="0"/>
          <a:chOff x="0" y="0"/>
          <a:chExt cx="0" cy="0"/>
        </a:xfrm>
      </p:grpSpPr>
      <p:sp>
        <p:nvSpPr>
          <p:cNvPr id="2" name="Freeform 2"/>
          <p:cNvSpPr/>
          <p:nvPr/>
        </p:nvSpPr>
        <p:spPr>
          <a:xfrm>
            <a:off x="-408952" y="-408952"/>
            <a:ext cx="2048372" cy="2048372"/>
          </a:xfrm>
          <a:custGeom>
            <a:avLst/>
            <a:gdLst/>
            <a:ahLst/>
            <a:cxnLst/>
            <a:rect l="l" t="t" r="r" b="b"/>
            <a:pathLst>
              <a:path w="2048372" h="2048372">
                <a:moveTo>
                  <a:pt x="0" y="0"/>
                </a:moveTo>
                <a:lnTo>
                  <a:pt x="2048372" y="0"/>
                </a:lnTo>
                <a:lnTo>
                  <a:pt x="2048372" y="2048372"/>
                </a:lnTo>
                <a:lnTo>
                  <a:pt x="0" y="2048372"/>
                </a:lnTo>
                <a:lnTo>
                  <a:pt x="0" y="0"/>
                </a:lnTo>
                <a:close/>
              </a:path>
            </a:pathLst>
          </a:custGeom>
          <a:blipFill>
            <a:blip r:embed="rId2"/>
            <a:stretch>
              <a:fillRect/>
            </a:stretch>
          </a:blipFill>
        </p:spPr>
      </p:sp>
      <p:sp>
        <p:nvSpPr>
          <p:cNvPr id="3" name="TextBox 3"/>
          <p:cNvSpPr txBox="1"/>
          <p:nvPr/>
        </p:nvSpPr>
        <p:spPr>
          <a:xfrm>
            <a:off x="149658" y="9205186"/>
            <a:ext cx="2979523"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NEXUS 2.0</a:t>
            </a:r>
          </a:p>
        </p:txBody>
      </p:sp>
      <p:sp>
        <p:nvSpPr>
          <p:cNvPr id="4" name="TextBox 4"/>
          <p:cNvSpPr txBox="1"/>
          <p:nvPr/>
        </p:nvSpPr>
        <p:spPr>
          <a:xfrm>
            <a:off x="17823317" y="9205186"/>
            <a:ext cx="664587"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2</a:t>
            </a:r>
          </a:p>
        </p:txBody>
      </p:sp>
      <p:sp>
        <p:nvSpPr>
          <p:cNvPr id="5" name="AutoShape 5"/>
          <p:cNvSpPr/>
          <p:nvPr/>
        </p:nvSpPr>
        <p:spPr>
          <a:xfrm flipV="1">
            <a:off x="3612899" y="9951551"/>
            <a:ext cx="13924591" cy="0"/>
          </a:xfrm>
          <a:prstGeom prst="line">
            <a:avLst/>
          </a:prstGeom>
          <a:ln w="38100" cap="flat">
            <a:solidFill>
              <a:srgbClr val="B31E23"/>
            </a:solidFill>
            <a:prstDash val="solid"/>
            <a:headEnd type="none" w="sm" len="sm"/>
            <a:tailEnd type="none" w="sm" len="sm"/>
          </a:ln>
        </p:spPr>
      </p:sp>
      <p:sp>
        <p:nvSpPr>
          <p:cNvPr id="6" name="TextBox 6"/>
          <p:cNvSpPr txBox="1"/>
          <p:nvPr/>
        </p:nvSpPr>
        <p:spPr>
          <a:xfrm>
            <a:off x="15188261" y="286465"/>
            <a:ext cx="2967350" cy="590863"/>
          </a:xfrm>
          <a:prstGeom prst="rect">
            <a:avLst/>
          </a:prstGeom>
        </p:spPr>
        <p:txBody>
          <a:bodyPr lIns="0" tIns="0" rIns="0" bIns="0" rtlCol="0" anchor="t">
            <a:spAutoFit/>
          </a:bodyPr>
          <a:lstStyle/>
          <a:p>
            <a:pPr algn="ctr">
              <a:lnSpc>
                <a:spcPts val="4819"/>
              </a:lnSpc>
            </a:pPr>
            <a:r>
              <a:rPr lang="en-US" sz="3442" b="1">
                <a:solidFill>
                  <a:srgbClr val="B31E23"/>
                </a:solidFill>
                <a:latin typeface="Canva Sans Bold"/>
                <a:ea typeface="Canva Sans Bold"/>
                <a:cs typeface="Canva Sans Bold"/>
                <a:sym typeface="Canva Sans Bold"/>
              </a:rPr>
              <a:t>&lt;Team Name&gt;</a:t>
            </a:r>
          </a:p>
        </p:txBody>
      </p:sp>
      <p:sp>
        <p:nvSpPr>
          <p:cNvPr id="7" name="TextBox 7"/>
          <p:cNvSpPr txBox="1"/>
          <p:nvPr/>
        </p:nvSpPr>
        <p:spPr>
          <a:xfrm>
            <a:off x="5817617" y="579176"/>
            <a:ext cx="6652766" cy="803799"/>
          </a:xfrm>
          <a:prstGeom prst="rect">
            <a:avLst/>
          </a:prstGeom>
        </p:spPr>
        <p:txBody>
          <a:bodyPr lIns="0" tIns="0" rIns="0" bIns="0" rtlCol="0" anchor="t">
            <a:spAutoFit/>
          </a:bodyPr>
          <a:lstStyle/>
          <a:p>
            <a:pPr algn="ctr">
              <a:lnSpc>
                <a:spcPts val="6541"/>
              </a:lnSpc>
            </a:pPr>
            <a:r>
              <a:rPr lang="en-US" sz="4672" b="1">
                <a:solidFill>
                  <a:srgbClr val="000000"/>
                </a:solidFill>
                <a:latin typeface="Roboto Bold"/>
                <a:ea typeface="Roboto Bold"/>
                <a:cs typeface="Roboto Bold"/>
                <a:sym typeface="Roboto Bold"/>
              </a:rPr>
              <a:t>TECHNICAL APPROACH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
        <p:cNvGrpSpPr/>
        <p:nvPr/>
      </p:nvGrpSpPr>
      <p:grpSpPr>
        <a:xfrm>
          <a:off x="0" y="0"/>
          <a:ext cx="0" cy="0"/>
          <a:chOff x="0" y="0"/>
          <a:chExt cx="0" cy="0"/>
        </a:xfrm>
      </p:grpSpPr>
      <p:sp>
        <p:nvSpPr>
          <p:cNvPr id="2" name="Freeform 2"/>
          <p:cNvSpPr/>
          <p:nvPr/>
        </p:nvSpPr>
        <p:spPr>
          <a:xfrm>
            <a:off x="-408952" y="-408952"/>
            <a:ext cx="2048372" cy="2048372"/>
          </a:xfrm>
          <a:custGeom>
            <a:avLst/>
            <a:gdLst/>
            <a:ahLst/>
            <a:cxnLst/>
            <a:rect l="l" t="t" r="r" b="b"/>
            <a:pathLst>
              <a:path w="2048372" h="2048372">
                <a:moveTo>
                  <a:pt x="0" y="0"/>
                </a:moveTo>
                <a:lnTo>
                  <a:pt x="2048372" y="0"/>
                </a:lnTo>
                <a:lnTo>
                  <a:pt x="2048372" y="2048372"/>
                </a:lnTo>
                <a:lnTo>
                  <a:pt x="0" y="2048372"/>
                </a:lnTo>
                <a:lnTo>
                  <a:pt x="0" y="0"/>
                </a:lnTo>
                <a:close/>
              </a:path>
            </a:pathLst>
          </a:custGeom>
          <a:blipFill>
            <a:blip r:embed="rId2"/>
            <a:stretch>
              <a:fillRect/>
            </a:stretch>
          </a:blipFill>
        </p:spPr>
      </p:sp>
      <p:sp>
        <p:nvSpPr>
          <p:cNvPr id="3" name="TextBox 3"/>
          <p:cNvSpPr txBox="1"/>
          <p:nvPr/>
        </p:nvSpPr>
        <p:spPr>
          <a:xfrm>
            <a:off x="149658" y="9205186"/>
            <a:ext cx="2979523"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NEXUS 2.0</a:t>
            </a:r>
          </a:p>
        </p:txBody>
      </p:sp>
      <p:sp>
        <p:nvSpPr>
          <p:cNvPr id="4" name="TextBox 4"/>
          <p:cNvSpPr txBox="1"/>
          <p:nvPr/>
        </p:nvSpPr>
        <p:spPr>
          <a:xfrm>
            <a:off x="17823317" y="9205186"/>
            <a:ext cx="664587"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3</a:t>
            </a:r>
          </a:p>
        </p:txBody>
      </p:sp>
      <p:sp>
        <p:nvSpPr>
          <p:cNvPr id="5" name="AutoShape 5"/>
          <p:cNvSpPr/>
          <p:nvPr/>
        </p:nvSpPr>
        <p:spPr>
          <a:xfrm flipV="1">
            <a:off x="3612899" y="9951551"/>
            <a:ext cx="13924591" cy="0"/>
          </a:xfrm>
          <a:prstGeom prst="line">
            <a:avLst/>
          </a:prstGeom>
          <a:ln w="38100" cap="flat">
            <a:solidFill>
              <a:srgbClr val="B31E23"/>
            </a:solidFill>
            <a:prstDash val="solid"/>
            <a:headEnd type="none" w="sm" len="sm"/>
            <a:tailEnd type="none" w="sm" len="sm"/>
          </a:ln>
        </p:spPr>
      </p:sp>
      <p:sp>
        <p:nvSpPr>
          <p:cNvPr id="6" name="TextBox 6"/>
          <p:cNvSpPr txBox="1"/>
          <p:nvPr/>
        </p:nvSpPr>
        <p:spPr>
          <a:xfrm>
            <a:off x="15188261" y="286465"/>
            <a:ext cx="2967350" cy="590863"/>
          </a:xfrm>
          <a:prstGeom prst="rect">
            <a:avLst/>
          </a:prstGeom>
        </p:spPr>
        <p:txBody>
          <a:bodyPr lIns="0" tIns="0" rIns="0" bIns="0" rtlCol="0" anchor="t">
            <a:spAutoFit/>
          </a:bodyPr>
          <a:lstStyle/>
          <a:p>
            <a:pPr algn="ctr">
              <a:lnSpc>
                <a:spcPts val="4819"/>
              </a:lnSpc>
            </a:pPr>
            <a:r>
              <a:rPr lang="en-US" sz="3442" b="1">
                <a:solidFill>
                  <a:srgbClr val="B31E23"/>
                </a:solidFill>
                <a:latin typeface="Canva Sans Bold"/>
                <a:ea typeface="Canva Sans Bold"/>
                <a:cs typeface="Canva Sans Bold"/>
                <a:sym typeface="Canva Sans Bold"/>
              </a:rPr>
              <a:t>&lt;Team Name&gt;</a:t>
            </a:r>
          </a:p>
        </p:txBody>
      </p:sp>
      <p:sp>
        <p:nvSpPr>
          <p:cNvPr id="7" name="TextBox 7"/>
          <p:cNvSpPr txBox="1"/>
          <p:nvPr/>
        </p:nvSpPr>
        <p:spPr>
          <a:xfrm>
            <a:off x="5670715" y="579176"/>
            <a:ext cx="6946571" cy="803799"/>
          </a:xfrm>
          <a:prstGeom prst="rect">
            <a:avLst/>
          </a:prstGeom>
        </p:spPr>
        <p:txBody>
          <a:bodyPr lIns="0" tIns="0" rIns="0" bIns="0" rtlCol="0" anchor="t">
            <a:spAutoFit/>
          </a:bodyPr>
          <a:lstStyle/>
          <a:p>
            <a:pPr algn="ctr">
              <a:lnSpc>
                <a:spcPts val="6541"/>
              </a:lnSpc>
            </a:pPr>
            <a:r>
              <a:rPr lang="en-US" sz="4672" b="1">
                <a:solidFill>
                  <a:srgbClr val="000000"/>
                </a:solidFill>
                <a:latin typeface="Roboto Bold"/>
                <a:ea typeface="Roboto Bold"/>
                <a:cs typeface="Roboto Bold"/>
                <a:sym typeface="Roboto Bold"/>
              </a:rPr>
              <a:t>FEASIBILITY &amp; VIABILITY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
        <p:cNvGrpSpPr/>
        <p:nvPr/>
      </p:nvGrpSpPr>
      <p:grpSpPr>
        <a:xfrm>
          <a:off x="0" y="0"/>
          <a:ext cx="0" cy="0"/>
          <a:chOff x="0" y="0"/>
          <a:chExt cx="0" cy="0"/>
        </a:xfrm>
      </p:grpSpPr>
      <p:sp>
        <p:nvSpPr>
          <p:cNvPr id="2" name="Freeform 2"/>
          <p:cNvSpPr/>
          <p:nvPr/>
        </p:nvSpPr>
        <p:spPr>
          <a:xfrm>
            <a:off x="-408952" y="-408952"/>
            <a:ext cx="2048372" cy="2048372"/>
          </a:xfrm>
          <a:custGeom>
            <a:avLst/>
            <a:gdLst/>
            <a:ahLst/>
            <a:cxnLst/>
            <a:rect l="l" t="t" r="r" b="b"/>
            <a:pathLst>
              <a:path w="2048372" h="2048372">
                <a:moveTo>
                  <a:pt x="0" y="0"/>
                </a:moveTo>
                <a:lnTo>
                  <a:pt x="2048372" y="0"/>
                </a:lnTo>
                <a:lnTo>
                  <a:pt x="2048372" y="2048372"/>
                </a:lnTo>
                <a:lnTo>
                  <a:pt x="0" y="2048372"/>
                </a:lnTo>
                <a:lnTo>
                  <a:pt x="0" y="0"/>
                </a:lnTo>
                <a:close/>
              </a:path>
            </a:pathLst>
          </a:custGeom>
          <a:blipFill>
            <a:blip r:embed="rId2"/>
            <a:stretch>
              <a:fillRect/>
            </a:stretch>
          </a:blipFill>
        </p:spPr>
      </p:sp>
      <p:sp>
        <p:nvSpPr>
          <p:cNvPr id="3" name="TextBox 3"/>
          <p:cNvSpPr txBox="1"/>
          <p:nvPr/>
        </p:nvSpPr>
        <p:spPr>
          <a:xfrm>
            <a:off x="149658" y="9205186"/>
            <a:ext cx="2979523"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NEXUS 2.0</a:t>
            </a:r>
          </a:p>
        </p:txBody>
      </p:sp>
      <p:sp>
        <p:nvSpPr>
          <p:cNvPr id="4" name="TextBox 4"/>
          <p:cNvSpPr txBox="1"/>
          <p:nvPr/>
        </p:nvSpPr>
        <p:spPr>
          <a:xfrm>
            <a:off x="17823317" y="9205186"/>
            <a:ext cx="664587"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4</a:t>
            </a:r>
          </a:p>
        </p:txBody>
      </p:sp>
      <p:sp>
        <p:nvSpPr>
          <p:cNvPr id="5" name="AutoShape 5"/>
          <p:cNvSpPr/>
          <p:nvPr/>
        </p:nvSpPr>
        <p:spPr>
          <a:xfrm flipV="1">
            <a:off x="3612899" y="9951551"/>
            <a:ext cx="13924591" cy="0"/>
          </a:xfrm>
          <a:prstGeom prst="line">
            <a:avLst/>
          </a:prstGeom>
          <a:ln w="38100" cap="flat">
            <a:solidFill>
              <a:srgbClr val="B31E23"/>
            </a:solidFill>
            <a:prstDash val="solid"/>
            <a:headEnd type="none" w="sm" len="sm"/>
            <a:tailEnd type="none" w="sm" len="sm"/>
          </a:ln>
        </p:spPr>
      </p:sp>
      <p:sp>
        <p:nvSpPr>
          <p:cNvPr id="6" name="TextBox 6"/>
          <p:cNvSpPr txBox="1"/>
          <p:nvPr/>
        </p:nvSpPr>
        <p:spPr>
          <a:xfrm>
            <a:off x="15188261" y="286465"/>
            <a:ext cx="2967350" cy="590863"/>
          </a:xfrm>
          <a:prstGeom prst="rect">
            <a:avLst/>
          </a:prstGeom>
        </p:spPr>
        <p:txBody>
          <a:bodyPr lIns="0" tIns="0" rIns="0" bIns="0" rtlCol="0" anchor="t">
            <a:spAutoFit/>
          </a:bodyPr>
          <a:lstStyle/>
          <a:p>
            <a:pPr algn="ctr">
              <a:lnSpc>
                <a:spcPts val="4819"/>
              </a:lnSpc>
            </a:pPr>
            <a:r>
              <a:rPr lang="en-US" sz="3442" b="1">
                <a:solidFill>
                  <a:srgbClr val="B31E23"/>
                </a:solidFill>
                <a:latin typeface="Canva Sans Bold"/>
                <a:ea typeface="Canva Sans Bold"/>
                <a:cs typeface="Canva Sans Bold"/>
                <a:sym typeface="Canva Sans Bold"/>
              </a:rPr>
              <a:t>&lt;Team Name&gt;</a:t>
            </a:r>
          </a:p>
        </p:txBody>
      </p:sp>
      <p:sp>
        <p:nvSpPr>
          <p:cNvPr id="7" name="TextBox 7"/>
          <p:cNvSpPr txBox="1"/>
          <p:nvPr/>
        </p:nvSpPr>
        <p:spPr>
          <a:xfrm>
            <a:off x="6338749" y="579176"/>
            <a:ext cx="5610503" cy="803799"/>
          </a:xfrm>
          <a:prstGeom prst="rect">
            <a:avLst/>
          </a:prstGeom>
        </p:spPr>
        <p:txBody>
          <a:bodyPr lIns="0" tIns="0" rIns="0" bIns="0" rtlCol="0" anchor="t">
            <a:spAutoFit/>
          </a:bodyPr>
          <a:lstStyle/>
          <a:p>
            <a:pPr algn="ctr">
              <a:lnSpc>
                <a:spcPts val="6541"/>
              </a:lnSpc>
            </a:pPr>
            <a:r>
              <a:rPr lang="en-US" sz="4672" b="1">
                <a:solidFill>
                  <a:srgbClr val="000000"/>
                </a:solidFill>
                <a:latin typeface="Roboto Bold"/>
                <a:ea typeface="Roboto Bold"/>
                <a:cs typeface="Roboto Bold"/>
                <a:sym typeface="Roboto Bold"/>
              </a:rPr>
              <a:t>IMPACT &amp; BENEFITS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6"/>
        </a:solidFill>
        <a:effectLst/>
      </p:bgPr>
    </p:bg>
    <p:spTree>
      <p:nvGrpSpPr>
        <p:cNvPr id="1" name=""/>
        <p:cNvGrpSpPr/>
        <p:nvPr/>
      </p:nvGrpSpPr>
      <p:grpSpPr>
        <a:xfrm>
          <a:off x="0" y="0"/>
          <a:ext cx="0" cy="0"/>
          <a:chOff x="0" y="0"/>
          <a:chExt cx="0" cy="0"/>
        </a:xfrm>
      </p:grpSpPr>
      <p:sp>
        <p:nvSpPr>
          <p:cNvPr id="2" name="Freeform 2"/>
          <p:cNvSpPr/>
          <p:nvPr/>
        </p:nvSpPr>
        <p:spPr>
          <a:xfrm>
            <a:off x="-408952" y="-408952"/>
            <a:ext cx="2048372" cy="2048372"/>
          </a:xfrm>
          <a:custGeom>
            <a:avLst/>
            <a:gdLst/>
            <a:ahLst/>
            <a:cxnLst/>
            <a:rect l="l" t="t" r="r" b="b"/>
            <a:pathLst>
              <a:path w="2048372" h="2048372">
                <a:moveTo>
                  <a:pt x="0" y="0"/>
                </a:moveTo>
                <a:lnTo>
                  <a:pt x="2048372" y="0"/>
                </a:lnTo>
                <a:lnTo>
                  <a:pt x="2048372" y="2048372"/>
                </a:lnTo>
                <a:lnTo>
                  <a:pt x="0" y="2048372"/>
                </a:lnTo>
                <a:lnTo>
                  <a:pt x="0" y="0"/>
                </a:lnTo>
                <a:close/>
              </a:path>
            </a:pathLst>
          </a:custGeom>
          <a:blipFill>
            <a:blip r:embed="rId2"/>
            <a:stretch>
              <a:fillRect/>
            </a:stretch>
          </a:blipFill>
        </p:spPr>
      </p:sp>
      <p:sp>
        <p:nvSpPr>
          <p:cNvPr id="3" name="TextBox 3"/>
          <p:cNvSpPr txBox="1"/>
          <p:nvPr/>
        </p:nvSpPr>
        <p:spPr>
          <a:xfrm>
            <a:off x="149658" y="9205186"/>
            <a:ext cx="2979523"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NEXUS 2.0</a:t>
            </a:r>
          </a:p>
        </p:txBody>
      </p:sp>
      <p:sp>
        <p:nvSpPr>
          <p:cNvPr id="4" name="TextBox 4"/>
          <p:cNvSpPr txBox="1"/>
          <p:nvPr/>
        </p:nvSpPr>
        <p:spPr>
          <a:xfrm>
            <a:off x="17823317" y="9205186"/>
            <a:ext cx="664587" cy="1045054"/>
          </a:xfrm>
          <a:prstGeom prst="rect">
            <a:avLst/>
          </a:prstGeom>
        </p:spPr>
        <p:txBody>
          <a:bodyPr lIns="0" tIns="0" rIns="0" bIns="0" rtlCol="0" anchor="t">
            <a:spAutoFit/>
          </a:bodyPr>
          <a:lstStyle/>
          <a:p>
            <a:pPr algn="l">
              <a:lnSpc>
                <a:spcPts val="5496"/>
              </a:lnSpc>
            </a:pPr>
            <a:r>
              <a:rPr lang="en-US" sz="3926" b="1">
                <a:solidFill>
                  <a:srgbClr val="B31E23"/>
                </a:solidFill>
                <a:latin typeface="レゲエ"/>
                <a:ea typeface="レゲエ"/>
                <a:cs typeface="レゲエ"/>
                <a:sym typeface="レゲエ"/>
              </a:rPr>
              <a:t>5</a:t>
            </a:r>
          </a:p>
        </p:txBody>
      </p:sp>
      <p:sp>
        <p:nvSpPr>
          <p:cNvPr id="5" name="AutoShape 5"/>
          <p:cNvSpPr/>
          <p:nvPr/>
        </p:nvSpPr>
        <p:spPr>
          <a:xfrm flipV="1">
            <a:off x="3612899" y="9951551"/>
            <a:ext cx="13924591" cy="0"/>
          </a:xfrm>
          <a:prstGeom prst="line">
            <a:avLst/>
          </a:prstGeom>
          <a:ln w="38100" cap="flat">
            <a:solidFill>
              <a:srgbClr val="B31E23"/>
            </a:solidFill>
            <a:prstDash val="solid"/>
            <a:headEnd type="none" w="sm" len="sm"/>
            <a:tailEnd type="none" w="sm" len="sm"/>
          </a:ln>
        </p:spPr>
      </p:sp>
      <p:sp>
        <p:nvSpPr>
          <p:cNvPr id="6" name="TextBox 6"/>
          <p:cNvSpPr txBox="1"/>
          <p:nvPr/>
        </p:nvSpPr>
        <p:spPr>
          <a:xfrm>
            <a:off x="15188261" y="286465"/>
            <a:ext cx="2967350" cy="590863"/>
          </a:xfrm>
          <a:prstGeom prst="rect">
            <a:avLst/>
          </a:prstGeom>
        </p:spPr>
        <p:txBody>
          <a:bodyPr lIns="0" tIns="0" rIns="0" bIns="0" rtlCol="0" anchor="t">
            <a:spAutoFit/>
          </a:bodyPr>
          <a:lstStyle/>
          <a:p>
            <a:pPr algn="ctr">
              <a:lnSpc>
                <a:spcPts val="4819"/>
              </a:lnSpc>
            </a:pPr>
            <a:r>
              <a:rPr lang="en-US" sz="3442" b="1">
                <a:solidFill>
                  <a:srgbClr val="B31E23"/>
                </a:solidFill>
                <a:latin typeface="Canva Sans Bold"/>
                <a:ea typeface="Canva Sans Bold"/>
                <a:cs typeface="Canva Sans Bold"/>
                <a:sym typeface="Canva Sans Bold"/>
              </a:rPr>
              <a:t>&lt;Team Name&gt;</a:t>
            </a:r>
          </a:p>
        </p:txBody>
      </p:sp>
      <p:sp>
        <p:nvSpPr>
          <p:cNvPr id="7" name="TextBox 7"/>
          <p:cNvSpPr txBox="1"/>
          <p:nvPr/>
        </p:nvSpPr>
        <p:spPr>
          <a:xfrm>
            <a:off x="7275230" y="579176"/>
            <a:ext cx="3737540" cy="1608517"/>
          </a:xfrm>
          <a:prstGeom prst="rect">
            <a:avLst/>
          </a:prstGeom>
        </p:spPr>
        <p:txBody>
          <a:bodyPr lIns="0" tIns="0" rIns="0" bIns="0" rtlCol="0" anchor="t">
            <a:spAutoFit/>
          </a:bodyPr>
          <a:lstStyle/>
          <a:p>
            <a:pPr algn="ctr">
              <a:lnSpc>
                <a:spcPts val="6541"/>
              </a:lnSpc>
            </a:pPr>
            <a:r>
              <a:rPr lang="en-US" sz="4672" b="1" dirty="0">
                <a:solidFill>
                  <a:srgbClr val="000000"/>
                </a:solidFill>
                <a:latin typeface="Roboto Bold"/>
                <a:ea typeface="Roboto Bold"/>
                <a:cs typeface="Roboto Bold"/>
                <a:sym typeface="Roboto Bold"/>
              </a:rPr>
              <a:t>REFERENCES (If applicable)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270</Words>
  <Application>Microsoft Office PowerPoint</Application>
  <PresentationFormat>Custom</PresentationFormat>
  <Paragraphs>46</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Calibri</vt:lpstr>
      <vt:lpstr>Canva Sans Bold</vt:lpstr>
      <vt:lpstr>Roboto</vt:lpstr>
      <vt:lpstr>Roboto Bold</vt:lpstr>
      <vt:lpstr>Times New Roman</vt:lpstr>
      <vt:lpstr>レゲエ</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Shivi</dc:creator>
  <cp:lastModifiedBy>Viraj Jadhao</cp:lastModifiedBy>
  <cp:revision>3</cp:revision>
  <dcterms:modified xsi:type="dcterms:W3CDTF">2026-04-14T13:43:08Z</dcterms:modified>
</cp:coreProperties>
</file>