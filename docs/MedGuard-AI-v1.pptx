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Barlow Light" panose="00000400000000000000" pitchFamily="2" charset="0"/>
      <p:regular r:id="rId9"/>
    </p:embeddedFont>
    <p:embeddedFont>
      <p:font typeface="Montserrat" panose="020F0502020204030204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26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pn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509248"/>
            <a:ext cx="498883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MedGuard AI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4709" y="4417100"/>
            <a:ext cx="76273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Medical Billing Auditor &amp; Insurance Appeal Engine for India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984472-C834-1409-3610-7433F46E4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2342" y="7124546"/>
            <a:ext cx="3458058" cy="11050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580073"/>
            <a:ext cx="7340441" cy="530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Healthcare Financing Crisis in India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58309" y="1383983"/>
            <a:ext cx="13113782" cy="476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India's healthcare financing system suffers from a critical lack of transparency and accessibility at the patient level, resulting in significant financial losses for millions of individuals annually.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43608" y="2095262"/>
            <a:ext cx="5500568" cy="53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50Cr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2933819" y="2810113"/>
            <a:ext cx="2120265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Insured Population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8309" y="3157299"/>
            <a:ext cx="6471285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Individuals covered by health insurance across India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86105" y="2095262"/>
            <a:ext cx="5500568" cy="53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8M</a:t>
            </a:r>
            <a:endParaRPr lang="en-US" sz="4150" dirty="0"/>
          </a:p>
        </p:txBody>
      </p:sp>
      <p:sp>
        <p:nvSpPr>
          <p:cNvPr id="8" name="Text 6"/>
          <p:cNvSpPr/>
          <p:nvPr/>
        </p:nvSpPr>
        <p:spPr>
          <a:xfrm>
            <a:off x="9576316" y="2810113"/>
            <a:ext cx="2120265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Annual Denied Claims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00806" y="3157299"/>
            <a:ext cx="6471285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Insurance claims rejected each year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608" y="3749993"/>
            <a:ext cx="5500568" cy="53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67%</a:t>
            </a:r>
            <a:endParaRPr lang="en-US" sz="4150" dirty="0"/>
          </a:p>
        </p:txBody>
      </p:sp>
      <p:sp>
        <p:nvSpPr>
          <p:cNvPr id="11" name="Text 9"/>
          <p:cNvSpPr/>
          <p:nvPr/>
        </p:nvSpPr>
        <p:spPr>
          <a:xfrm>
            <a:off x="2933819" y="4464844"/>
            <a:ext cx="2120265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Never Appealed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8309" y="4812030"/>
            <a:ext cx="6471285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Denied claims that patients don't contest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86105" y="3749993"/>
            <a:ext cx="5500568" cy="53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₹8K-15K</a:t>
            </a:r>
            <a:endParaRPr lang="en-US" sz="4150" dirty="0"/>
          </a:p>
        </p:txBody>
      </p:sp>
      <p:sp>
        <p:nvSpPr>
          <p:cNvPr id="14" name="Text 12"/>
          <p:cNvSpPr/>
          <p:nvPr/>
        </p:nvSpPr>
        <p:spPr>
          <a:xfrm>
            <a:off x="9576316" y="4464844"/>
            <a:ext cx="2120265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Average Overcharge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00806" y="4812030"/>
            <a:ext cx="6471285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hospital bill excess charges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8309" y="5255776"/>
            <a:ext cx="2544247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Challenges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8309" y="5779175"/>
            <a:ext cx="13113782" cy="1097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Non-standardized and complex hospital billing formats</a:t>
            </a:r>
            <a:endParaRPr lang="en-US" sz="12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patient understanding of medical and legal terminology</a:t>
            </a:r>
            <a:endParaRPr lang="en-US" sz="12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of accessible interpretation of IRDAI regulations</a:t>
            </a:r>
            <a:endParaRPr lang="en-US" sz="12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cost and effort required to file appeals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58309" y="7030283"/>
            <a:ext cx="13113782" cy="619244"/>
          </a:xfrm>
          <a:prstGeom prst="roundRect">
            <a:avLst>
              <a:gd name="adj" fmla="val 39034"/>
            </a:avLst>
          </a:prstGeom>
          <a:solidFill>
            <a:srgbClr val="FCF2B5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01" y="7265908"/>
            <a:ext cx="201335" cy="16109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81827" y="7207448"/>
            <a:ext cx="12429173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Outcome:</a:t>
            </a: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Patients incur significant financial losses due to lack of actionable tools.</a:t>
            </a:r>
            <a:endParaRPr lang="en-US" sz="12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AE07B16-A625-C729-03FE-BD1EA5BBE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4420" y="7665264"/>
            <a:ext cx="1765979" cy="564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15816"/>
            <a:ext cx="4852630" cy="43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Intelligent System Architecture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438037"/>
            <a:ext cx="4371261" cy="5307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0945" y="2061686"/>
            <a:ext cx="1746052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Input Layer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90945" y="2335649"/>
            <a:ext cx="4105989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bills, scanned images, voice input (Hinglish supported)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570" y="1438037"/>
            <a:ext cx="4371261" cy="5307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62205" y="2061686"/>
            <a:ext cx="1746052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Processing Pipeline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62205" y="2335649"/>
            <a:ext cx="4105989" cy="360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Speech-to-text, document parsing, billing analysis, regulatory mapping, multi-agent reasoning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830" y="1438037"/>
            <a:ext cx="4371261" cy="5307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33466" y="2061686"/>
            <a:ext cx="1746052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Output Layer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633466" y="2335649"/>
            <a:ext cx="4105989" cy="360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Overcharge report, savings estimate, downloadable appeal letter (PDF)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758309" y="2968585"/>
            <a:ext cx="209526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58309" y="3369826"/>
            <a:ext cx="6510457" cy="1225868"/>
          </a:xfrm>
          <a:prstGeom prst="roundRect">
            <a:avLst>
              <a:gd name="adj" fmla="val 1623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65" y="3510082"/>
            <a:ext cx="398026" cy="398026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7983" y="3619500"/>
            <a:ext cx="179070" cy="1790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8565" y="4000976"/>
            <a:ext cx="1746052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Hinglish Voice Input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898565" y="4274939"/>
            <a:ext cx="6229945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mixed Hindi-English speech, converts natural language into structured data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7361634" y="3369826"/>
            <a:ext cx="6510457" cy="1225868"/>
          </a:xfrm>
          <a:prstGeom prst="roundRect">
            <a:avLst>
              <a:gd name="adj" fmla="val 1623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1890" y="3510082"/>
            <a:ext cx="398026" cy="398026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1308" y="3619500"/>
            <a:ext cx="179070" cy="17907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501890" y="4000976"/>
            <a:ext cx="1746052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Intelligent Bill Parsing</a:t>
            </a:r>
            <a:endParaRPr lang="en-US" sz="1350" dirty="0"/>
          </a:p>
        </p:txBody>
      </p:sp>
      <p:sp>
        <p:nvSpPr>
          <p:cNvPr id="22" name="Text 13"/>
          <p:cNvSpPr/>
          <p:nvPr/>
        </p:nvSpPr>
        <p:spPr>
          <a:xfrm>
            <a:off x="7501890" y="4274939"/>
            <a:ext cx="6229945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Layout-aware document understanding, extracts line items, quantities, prices, table structures</a:t>
            </a:r>
            <a:endParaRPr lang="en-US" sz="1000" dirty="0"/>
          </a:p>
        </p:txBody>
      </p:sp>
      <p:sp>
        <p:nvSpPr>
          <p:cNvPr id="23" name="Shape 14"/>
          <p:cNvSpPr/>
          <p:nvPr/>
        </p:nvSpPr>
        <p:spPr>
          <a:xfrm>
            <a:off x="758309" y="4688562"/>
            <a:ext cx="6510457" cy="1406366"/>
          </a:xfrm>
          <a:prstGeom prst="roundRect">
            <a:avLst>
              <a:gd name="adj" fmla="val 1415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8565" y="4828818"/>
            <a:ext cx="398026" cy="398026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7983" y="4938236"/>
            <a:ext cx="179070" cy="17907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98565" y="5319713"/>
            <a:ext cx="1773079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CGHS-Based Detection</a:t>
            </a:r>
            <a:endParaRPr lang="en-US" sz="1350" dirty="0"/>
          </a:p>
        </p:txBody>
      </p:sp>
      <p:sp>
        <p:nvSpPr>
          <p:cNvPr id="27" name="Text 16"/>
          <p:cNvSpPr/>
          <p:nvPr/>
        </p:nvSpPr>
        <p:spPr>
          <a:xfrm>
            <a:off x="898565" y="5593675"/>
            <a:ext cx="6229945" cy="360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Compares billed items with CGHS rate benchmarks, detects price inflation, duplicates, non-standard charges</a:t>
            </a:r>
            <a:endParaRPr lang="en-US" sz="1000" dirty="0"/>
          </a:p>
        </p:txBody>
      </p:sp>
      <p:sp>
        <p:nvSpPr>
          <p:cNvPr id="28" name="Shape 17"/>
          <p:cNvSpPr/>
          <p:nvPr/>
        </p:nvSpPr>
        <p:spPr>
          <a:xfrm>
            <a:off x="7361634" y="4688562"/>
            <a:ext cx="6510457" cy="1406366"/>
          </a:xfrm>
          <a:prstGeom prst="roundRect">
            <a:avLst>
              <a:gd name="adj" fmla="val 1415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1890" y="4828818"/>
            <a:ext cx="398026" cy="398026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11308" y="4938236"/>
            <a:ext cx="179070" cy="17907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7501890" y="5319713"/>
            <a:ext cx="1746052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Confidence Scoring</a:t>
            </a:r>
            <a:endParaRPr lang="en-US" sz="1350" dirty="0"/>
          </a:p>
        </p:txBody>
      </p:sp>
      <p:sp>
        <p:nvSpPr>
          <p:cNvPr id="32" name="Text 19"/>
          <p:cNvSpPr/>
          <p:nvPr/>
        </p:nvSpPr>
        <p:spPr>
          <a:xfrm>
            <a:off x="7501890" y="5593675"/>
            <a:ext cx="6229945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Assigns probability scores based on price deviation, pattern recognition, historical mappings</a:t>
            </a:r>
            <a:endParaRPr lang="en-US" sz="1000" dirty="0"/>
          </a:p>
        </p:txBody>
      </p:sp>
      <p:sp>
        <p:nvSpPr>
          <p:cNvPr id="33" name="Shape 20"/>
          <p:cNvSpPr/>
          <p:nvPr/>
        </p:nvSpPr>
        <p:spPr>
          <a:xfrm>
            <a:off x="758309" y="6187797"/>
            <a:ext cx="6510457" cy="1225868"/>
          </a:xfrm>
          <a:prstGeom prst="roundRect">
            <a:avLst>
              <a:gd name="adj" fmla="val 1623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565" y="6328053"/>
            <a:ext cx="398026" cy="398026"/>
          </a:xfrm>
          <a:prstGeom prst="rect">
            <a:avLst/>
          </a:prstGeom>
        </p:spPr>
      </p:pic>
      <p:pic>
        <p:nvPicPr>
          <p:cNvPr id="35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7983" y="6437471"/>
            <a:ext cx="179070" cy="17907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898565" y="6818947"/>
            <a:ext cx="1746052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IRDAI Intelligence</a:t>
            </a:r>
            <a:endParaRPr lang="en-US" sz="1350" dirty="0"/>
          </a:p>
        </p:txBody>
      </p:sp>
      <p:sp>
        <p:nvSpPr>
          <p:cNvPr id="37" name="Text 22"/>
          <p:cNvSpPr/>
          <p:nvPr/>
        </p:nvSpPr>
        <p:spPr>
          <a:xfrm>
            <a:off x="898565" y="7092910"/>
            <a:ext cx="6229945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Embeds IRDAI circulars into searchable vector database, enables clause-level citation</a:t>
            </a:r>
            <a:endParaRPr lang="en-US" sz="1000" dirty="0"/>
          </a:p>
        </p:txBody>
      </p:sp>
      <p:sp>
        <p:nvSpPr>
          <p:cNvPr id="38" name="Shape 23"/>
          <p:cNvSpPr/>
          <p:nvPr/>
        </p:nvSpPr>
        <p:spPr>
          <a:xfrm>
            <a:off x="7361634" y="6187797"/>
            <a:ext cx="6510457" cy="1225868"/>
          </a:xfrm>
          <a:prstGeom prst="roundRect">
            <a:avLst>
              <a:gd name="adj" fmla="val 1623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01890" y="6328053"/>
            <a:ext cx="398026" cy="398026"/>
          </a:xfrm>
          <a:prstGeom prst="rect">
            <a:avLst/>
          </a:prstGeom>
        </p:spPr>
      </p:pic>
      <p:pic>
        <p:nvPicPr>
          <p:cNvPr id="40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11308" y="6437471"/>
            <a:ext cx="179070" cy="179070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7501890" y="6818947"/>
            <a:ext cx="1746052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Multi-Agent Engine</a:t>
            </a:r>
            <a:endParaRPr lang="en-US" sz="1350" dirty="0"/>
          </a:p>
        </p:txBody>
      </p:sp>
      <p:sp>
        <p:nvSpPr>
          <p:cNvPr id="42" name="Text 25"/>
          <p:cNvSpPr/>
          <p:nvPr/>
        </p:nvSpPr>
        <p:spPr>
          <a:xfrm>
            <a:off x="7501890" y="7092910"/>
            <a:ext cx="6229945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Clinician, Regulatory, and Legal agents validate medical necessity, map rules, draft appeals</a:t>
            </a:r>
            <a:endParaRPr lang="en-US" sz="10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1C7191B-D79F-674F-10D3-AD0288EE4F7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864420" y="7665264"/>
            <a:ext cx="1765979" cy="5643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21995"/>
            <a:ext cx="4269462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MedGuard AI Works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58309" y="1463516"/>
            <a:ext cx="303252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705928"/>
            <a:ext cx="6496169" cy="15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1812131"/>
            <a:ext cx="1995487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Upload Hospital Bill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58309" y="2134314"/>
            <a:ext cx="6496169" cy="21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PDF, scanned image, or voice input accepted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375803" y="1463516"/>
            <a:ext cx="303252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803" y="1705928"/>
            <a:ext cx="6496288" cy="15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75803" y="1812131"/>
            <a:ext cx="223730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Processing (~15 seconds)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375803" y="2134314"/>
            <a:ext cx="6496288" cy="21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analyzes document and extracts billing data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58309" y="2587704"/>
            <a:ext cx="303252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814995"/>
            <a:ext cx="6496169" cy="15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8309" y="2936319"/>
            <a:ext cx="2167057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Overcharges Highlighted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758309" y="3258502"/>
            <a:ext cx="6496169" cy="21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CGHS-based comparison identifies inflated charges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7375803" y="2587704"/>
            <a:ext cx="303252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803" y="2814995"/>
            <a:ext cx="6496288" cy="152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75803" y="2936319"/>
            <a:ext cx="242411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Savings Estimate Displayed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375803" y="3258502"/>
            <a:ext cx="6496288" cy="21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potential recoverable amount shown prominently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758309" y="3711892"/>
            <a:ext cx="303252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11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924062"/>
            <a:ext cx="6496169" cy="15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58309" y="4060508"/>
            <a:ext cx="2088475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Click "Generate Appeal"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758309" y="4382691"/>
            <a:ext cx="6496169" cy="21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Multi-agent system creates evidence-backed appeal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7375803" y="3711892"/>
            <a:ext cx="303252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06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803" y="3924062"/>
            <a:ext cx="6496288" cy="152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75803" y="4060508"/>
            <a:ext cx="1995487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Download Appeal PDF</a:t>
            </a:r>
            <a:endParaRPr lang="en-US" sz="1550" dirty="0"/>
          </a:p>
        </p:txBody>
      </p:sp>
      <p:sp>
        <p:nvSpPr>
          <p:cNvPr id="26" name="Text 18"/>
          <p:cNvSpPr/>
          <p:nvPr/>
        </p:nvSpPr>
        <p:spPr>
          <a:xfrm>
            <a:off x="7375803" y="4382691"/>
            <a:ext cx="6496288" cy="21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Legally formatted document with citations ready to submit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758309" y="4896683"/>
            <a:ext cx="265545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Sample Detection Output</a:t>
            </a:r>
            <a:endParaRPr lang="en-US" sz="1850" dirty="0"/>
          </a:p>
        </p:txBody>
      </p:sp>
      <p:sp>
        <p:nvSpPr>
          <p:cNvPr id="28" name="Text 20"/>
          <p:cNvSpPr/>
          <p:nvPr/>
        </p:nvSpPr>
        <p:spPr>
          <a:xfrm>
            <a:off x="758309" y="5499140"/>
            <a:ext cx="1995487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Detected Anomaly</a:t>
            </a:r>
            <a:endParaRPr lang="en-US" sz="1550" dirty="0"/>
          </a:p>
        </p:txBody>
      </p:sp>
      <p:sp>
        <p:nvSpPr>
          <p:cNvPr id="29" name="Text 21"/>
          <p:cNvSpPr/>
          <p:nvPr/>
        </p:nvSpPr>
        <p:spPr>
          <a:xfrm>
            <a:off x="758309" y="5869900"/>
            <a:ext cx="6371868" cy="21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Item:</a:t>
            </a: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Blood Test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758309" y="6197441"/>
            <a:ext cx="6371868" cy="21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Charged:</a:t>
            </a: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₹840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758309" y="6524982"/>
            <a:ext cx="6371868" cy="21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CGHS Rate:</a:t>
            </a: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₹320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758309" y="6852523"/>
            <a:ext cx="6371868" cy="21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Overcharge:</a:t>
            </a: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₹520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758309" y="7180064"/>
            <a:ext cx="6371868" cy="21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Confidence:</a:t>
            </a: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87%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7507843" y="5499140"/>
            <a:ext cx="1995487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Regulatory Citation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7507843" y="5869900"/>
            <a:ext cx="6371868" cy="436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"As per IRDAI Circular 2023/14, Clause 5.2, insurers must adhere to benchmark pricing guidelines for standard medical procedures..."</a:t>
            </a:r>
            <a:endParaRPr lang="en-US" sz="11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7D2CD12-BAF0-DCCA-89C9-3A01552B2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4420" y="7665264"/>
            <a:ext cx="1765979" cy="564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86872"/>
            <a:ext cx="5120878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 &amp; Business Model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58309" y="1124307"/>
            <a:ext cx="1945600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309" y="1487567"/>
            <a:ext cx="13113782" cy="2205990"/>
          </a:xfrm>
          <a:prstGeom prst="roundRect">
            <a:avLst>
              <a:gd name="adj" fmla="val 837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1495187"/>
            <a:ext cx="13098542" cy="2738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89040" y="1550789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42121" y="1550789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65929" y="1769031"/>
            <a:ext cx="13098542" cy="2738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89040" y="1824633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42121" y="1824633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Next.js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5929" y="2042874"/>
            <a:ext cx="13098542" cy="2738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89040" y="2098477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42121" y="2098477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5929" y="2316718"/>
            <a:ext cx="13098542" cy="2738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89040" y="2372320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Speech 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42121" y="2372320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Whisper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5929" y="2590562"/>
            <a:ext cx="13098542" cy="2738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89040" y="2646164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AI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42121" y="2646164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LayoutLMv3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65929" y="2864406"/>
            <a:ext cx="13098542" cy="2738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89040" y="2920008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Database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42121" y="2920008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FAISS / Pinecone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5929" y="3138249"/>
            <a:ext cx="13098542" cy="2738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89040" y="3193852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Orchestration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42121" y="3193852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GPT-based models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5929" y="3412093"/>
            <a:ext cx="13098542" cy="2738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89040" y="3467695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42121" y="3467695"/>
            <a:ext cx="629924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Vercel + HuggingFace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8309" y="3813691"/>
            <a:ext cx="1945600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Business Model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58309" y="4176951"/>
            <a:ext cx="4317921" cy="689967"/>
          </a:xfrm>
          <a:prstGeom prst="roundRect">
            <a:avLst>
              <a:gd name="adj" fmla="val 26790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660" y="4315301"/>
            <a:ext cx="1621393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Consumer (B2C)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6660" y="4565928"/>
            <a:ext cx="4041219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₹99 per appeal generation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56240" y="4176951"/>
            <a:ext cx="4317921" cy="689967"/>
          </a:xfrm>
          <a:prstGeom prst="roundRect">
            <a:avLst>
              <a:gd name="adj" fmla="val 26790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94590" y="4315301"/>
            <a:ext cx="1621393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Business (B2B)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94590" y="4565928"/>
            <a:ext cx="4041219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SaaS for TPAs and insurers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554170" y="4176951"/>
            <a:ext cx="4317921" cy="689967"/>
          </a:xfrm>
          <a:prstGeom prst="roundRect">
            <a:avLst>
              <a:gd name="adj" fmla="val 26790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521" y="4315301"/>
            <a:ext cx="1621393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Enterprise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692521" y="4565928"/>
            <a:ext cx="4041219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integration for insurance platforms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8309" y="4987052"/>
            <a:ext cx="1945600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Market Opportunity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152769" y="6151126"/>
            <a:ext cx="151554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50Cr</a:t>
            </a:r>
            <a:endParaRPr lang="en-US" sz="24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439" y="5381030"/>
            <a:ext cx="1848326" cy="1848326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2099905" y="7340084"/>
            <a:ext cx="1621393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Insured Population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6557367" y="6151126"/>
            <a:ext cx="151554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8M</a:t>
            </a:r>
            <a:endParaRPr lang="en-US" sz="2400" dirty="0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037" y="5381030"/>
            <a:ext cx="1848326" cy="1848326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6504503" y="7340084"/>
            <a:ext cx="1621393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Annual Denied Claims</a:t>
            </a:r>
            <a:endParaRPr lang="en-US" sz="1250" dirty="0"/>
          </a:p>
        </p:txBody>
      </p:sp>
      <p:sp>
        <p:nvSpPr>
          <p:cNvPr id="46" name="Text 42"/>
          <p:cNvSpPr/>
          <p:nvPr/>
        </p:nvSpPr>
        <p:spPr>
          <a:xfrm>
            <a:off x="10961965" y="6151126"/>
            <a:ext cx="151554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67%</a:t>
            </a:r>
            <a:endParaRPr lang="en-US" sz="2400" dirty="0"/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635" y="5381030"/>
            <a:ext cx="1848326" cy="1848326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10909102" y="7340084"/>
            <a:ext cx="1621393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Unappealed Claims</a:t>
            </a:r>
            <a:endParaRPr lang="en-US" sz="12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C6AA76C-D4CA-2996-A857-3D5EB0476F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64420" y="7665264"/>
            <a:ext cx="1765979" cy="5643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528399"/>
            <a:ext cx="9533811" cy="59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Transforming Healthcare Financial Protection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58309" y="1189196"/>
            <a:ext cx="3096101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Competitive Advantages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309" y="1801177"/>
            <a:ext cx="405170" cy="405170"/>
          </a:xfrm>
          <a:prstGeom prst="roundRect">
            <a:avLst>
              <a:gd name="adj" fmla="val 6667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4572" y="1862971"/>
            <a:ext cx="2415540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India-Focused Solution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334572" y="2261711"/>
            <a:ext cx="587371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CGHS + IRDAI integration tailored for Indian healthcare regulations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22118" y="1801177"/>
            <a:ext cx="405170" cy="405170"/>
          </a:xfrm>
          <a:prstGeom prst="roundRect">
            <a:avLst>
              <a:gd name="adj" fmla="val 6667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98381" y="1862971"/>
            <a:ext cx="2369701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End-to-End Pipeline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998381" y="2261711"/>
            <a:ext cx="587371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audit and appeal generation in single platform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309" y="3165872"/>
            <a:ext cx="405170" cy="405170"/>
          </a:xfrm>
          <a:prstGeom prst="roundRect">
            <a:avLst>
              <a:gd name="adj" fmla="val 6667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4572" y="3227665"/>
            <a:ext cx="2384108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Multi-Agent Reasoning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334572" y="3626406"/>
            <a:ext cx="587371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Specialized AI agents for clinical, regulatory, and legal validation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22118" y="3165872"/>
            <a:ext cx="405170" cy="405170"/>
          </a:xfrm>
          <a:prstGeom prst="roundRect">
            <a:avLst>
              <a:gd name="adj" fmla="val 6667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8381" y="3227665"/>
            <a:ext cx="2369701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 Financial Impact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998381" y="3626406"/>
            <a:ext cx="587371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visibility of potential savings and recoverable amounts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309" y="4163973"/>
            <a:ext cx="2843689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8309" y="4775954"/>
            <a:ext cx="13113782" cy="96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with insurer APIs for automated claim filing</a:t>
            </a:r>
            <a:endParaRPr lang="en-US" sz="14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compliance analytics and monitoring</a:t>
            </a:r>
            <a:endParaRPr lang="en-US" sz="14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Large-scale fraud detection across healthcare providers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8309" y="5930860"/>
            <a:ext cx="13113782" cy="1770221"/>
          </a:xfrm>
          <a:prstGeom prst="roundRect">
            <a:avLst>
              <a:gd name="adj" fmla="val 15261"/>
            </a:avLst>
          </a:prstGeom>
          <a:solidFill>
            <a:srgbClr val="B6FCB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32" y="6175772"/>
            <a:ext cx="296108" cy="23693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14463" y="6146959"/>
            <a:ext cx="2369701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1414463" y="6614160"/>
            <a:ext cx="12277606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MedGuard AI addresses a critical gap in India's healthcare ecosystem by empowering patients with actionable insights and automated legal support. It transforms a complex, opaque process into a structured, accessible, and data-driven workflow—enabling financial protection at scale.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C0AA540-02BA-9264-0DA7-D6F8CB2B1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1798" y="7689801"/>
            <a:ext cx="1898601" cy="5397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590</Words>
  <Application>Microsoft Office PowerPoint</Application>
  <PresentationFormat>Custom</PresentationFormat>
  <Paragraphs>124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Barlow Light</vt:lpstr>
      <vt:lpstr>Arial</vt:lpstr>
      <vt:lpstr>Barlow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Viraj Jadhao</cp:lastModifiedBy>
  <cp:revision>2</cp:revision>
  <dcterms:created xsi:type="dcterms:W3CDTF">2026-04-14T13:22:13Z</dcterms:created>
  <dcterms:modified xsi:type="dcterms:W3CDTF">2026-04-14T13:28:45Z</dcterms:modified>
</cp:coreProperties>
</file>